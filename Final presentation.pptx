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72" r:id="rId5"/>
    <p:sldId id="278" r:id="rId6"/>
    <p:sldId id="273" r:id="rId7"/>
    <p:sldId id="290" r:id="rId8"/>
    <p:sldId id="289" r:id="rId9"/>
    <p:sldId id="292" r:id="rId10"/>
    <p:sldId id="291" r:id="rId11"/>
    <p:sldId id="293" r:id="rId12"/>
    <p:sldId id="295" r:id="rId13"/>
    <p:sldId id="296" r:id="rId14"/>
    <p:sldId id="297" r:id="rId15"/>
    <p:sldId id="298" r:id="rId16"/>
    <p:sldId id="299" r:id="rId17"/>
    <p:sldId id="300" r:id="rId18"/>
    <p:sldId id="303" r:id="rId19"/>
    <p:sldId id="304" r:id="rId20"/>
    <p:sldId id="306" r:id="rId21"/>
    <p:sldId id="307" r:id="rId22"/>
    <p:sldId id="308" r:id="rId23"/>
    <p:sldId id="28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/>
    <p:restoredTop sz="94690"/>
  </p:normalViewPr>
  <p:slideViewPr>
    <p:cSldViewPr>
      <p:cViewPr varScale="1">
        <p:scale>
          <a:sx n="135" d="100"/>
          <a:sy n="135" d="100"/>
        </p:scale>
        <p:origin x="200" y="5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13:41:33.9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24575,'0'6'0,"0"1"0,0 3 0,0 1 0,0 2 0,0 6 0,0 1 0,0-1 0,0-3 0,0-6 0,0 0 0,0 2 0,0 1 0,0 1 0,0 0 0,0 1 0,2-2 0,0 3 0,1-1 0,0-1 0,1 2 0,-2-2 0,1 2 0,-2 2 0,2 2 0,0 2 0,0 0 0,-2-3 0,-1 0 0,0-5 0,2-2 0,1 0 0,0-3 0,0 4 0,-3 0 0,0 1 0,0 1 0,0-2 0,0-2 0,1-4 0,2-4 0,-1-5 0,0-7 0,-2-15 0,0-10 0,0-4 0,0 3 0,0 11 0,0 6 0,0 10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13:42:08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214 761 24575,'0'-7'0,"0"-4"0,0-7 0,0-4 0,0-8 0,1-7 0,1-2 0,0 1 0,1 9 0,-1 8 0,0 3 0,0 3 0,-2 2 0,0 0 0,0 3 0,0 2 0,0 1 0,0 1 0,0 4 0,0 8 0,0 11 0,0 10 0,0 4 0,1 1 0,1-4 0,3-1 0,2-3 0,0-2 0,-1 0 0,0 0 0,-1 0 0,0 1 0,-1-3 0,-2-4 0,1-1 0,-1-1 0,0 0 0,0-3 0,-1-3 0,0-4 0,1-6 0,-1-8 0,-1-5 0,1-10 0,-1-5 0,0 1 0,0-3 0,0 7 0,0 0 0,0 1 0,0 3 0,0-3 0,0-2 0,0-2 0,0-5 0,0 1 0,0 3 0,0 5 0,0 6 0,0 4 0,0 3 0,0 3 0,0 2 0,0 0 0,0 0 0,0 2 0,0 10 0,0 9 0,0 9 0,0 4 0,0-2 0,0-3 0,0-2 0,0 3 0,0 0 0,0 4 0,0 2 0,0 0 0,0 1 0,0-3 0,0-1 0,0-2 0,0-2 0,0-4 0,0-2 0,0-4 0,-2-3 0,0-8 0,-2-11 0,-3-11 0,-1-13 0,1-4 0,0-5 0,-1-3 0,1 1 0,-2-5 0,0 2 0,1 9 0,1 10 0,3 12 0,3 13 0,1 8 0,-2 15 0,-1 11 0,1 8 0,0 7 0,2-2 0,0-2 0,0-3 0,0-7 0,-2-4 0,1-6 0,-1-6 0,-1-5 0,1-8 0,-1-8 0,0-12 0,1-10 0,0-8 0,2-5 0,0 5 0,0 5 0,0 7 0,0 5 0,0 6 0,0 3 0,-1 4 0,-3 11 0,-5 14 0,-3 17 0,0 11 0,0 2 0,3 0 0,0-5 0,1-5 0,1-9 0,1-7 0,2-9 0,1-8 0,1-10 0,0-11 0,1-12 0,1-15 0,0 0 0,0 6 0,0 10 0,0 10 0,0 3 0,0 5 0,-3 10 0,-3 12 0,-3 10 0,-3 6 0,1 0 0,1-2 0,3-5 0,1-3 0,2-6 0,2-7 0,0-15 0,2-15 0,0-14 0,0-7 0,3 4 0,1 4 0,4 7 0,2 4 0,1 5 0,0 3 0,-3 6 0,-1 8 0,-4 11 0,-4 12 0,-5 13 0,-1 0 0,1-5 0,2-12 0,4-23 0,3-16 0,4-13 0,5-5 0,0 7 0,0 6 0,-4 9 0,-2 7 0,-1 1 0,-1 0 0,-1 2 0,-2 2 0,-2 8 0,-6 11 0,-6 10 0,-2 11 0,0 1 0,4-7 0,6-6 0,3-9 0,2-1 0,0-1 0,1-4 0,1-3 0,2-3 0,1 0 0,1-5 0,2-7 0,4-12 0,2-9 0,0-6 0,2 0 0,-3 3 0,-2 5 0,-2 6 0,-3 9 0,-5 8 0,-4 7 0,-4 8 0,-6 13 0,-2 7 0,0 4 0,1-1 0,6-7 0,1-5 0,3-2 0,3-10 0,1-13 0,0-12 0,0-10 0,0 1 0,0 6 0,0 7 0,0 5 0,0 2 0,0 1 0,0-1 0,0 0 0,-2 1 0,-1 1 0,-4 2 0,0 3 0,1-1 0,2-1 0,3-2 0,1-2 0,0 0 0,0 0 0,1 1 0,0 1 0,2 1 0,2-1 0,1 0 0,1-1 0,-1-1 0,0 0 0,0 2 0,0 1 0,1 1 0,-1 1 0,0 0 0,0 1 0,1 0 0,-1 0 0,1 0 0,-1 1 0,-1 2 0,-3 4 0,-2 2 0,0 3 0,0-1 0,0 1 0,0 0 0,0-1 0,0 0 0,0-1 0,0 0 0,-2 0 0,-1-1 0,-4-1 0,-2-3 0,0-3 0,-2 0 0,1-2 0,-1-2 0,0-5 0,1-6 0,3-2 0,3-2 0,3 3 0,1-3 0,1-1 0,3-3 0,5-1 0,3 2 0,3 4 0,-1 6 0,-2 6 0,-3 4 0,-2 5 0,-3 5 0,0 8 0,-3 6 0,-1 3 0,-4 3 0,-6 2 0,-6-3 0,-2-5 0,3-7 0,2-8 0,2-6 0,2-13 0,2-13 0,5-10 0,2-7 0,2 3 0,5 4 0,5 6 0,4 7 0,1 7 0,0 7 0,-4 5 0,-5 6 0,-4 6 0,-5 6 0,-6 8 0,-2 5 0,-5 4 0,-1-1 0,3-3 0,1-6 0,5-12 0,2-22 0,6-23 0,8-19 0,10-4 0,6 9 0,0 14 0,-6 15 0,-8 12 0,-7 13 0,-3 7 0,-4 6 0,-4 5 0,-3-2 0,-1-4 0,3-3 0,4-5 0,1-10 0,4-14 0,12-25 0,14-19 0,9-8 0,0 8 0,-12 22 0,-11 20 0,-8 13 0,-4 11 0,-4 7 0,-6 10 0,-3 6 0,-1-2 0,3-3 0,5-8 0,2-3 0,2-4 0,-1-4 0,-1-2 0,0-1 0,1 2 0,1 0 0,-1 2 0,1 2 0,0 0 0,0 0 0,0-1 0,0-4 0,0-6 0,0-16 0,0-15 0,0-16 0,1-16 0,0 4 0,2 12 0,1 19 0,-2 22 0,0 9 0,-2 6 0,-2 7 0,-2 6 0,-5 6 0,-2 2 0,0-5 0,3-3 0,2-9 0,1-8 0,2-9 0,0-20 0,3-15 0,-1-13 0,1 1 0,0 13 0,0 15 0,-2 17 0,-2 13 0,-3 9 0,-2 3 0,1-1 0,0-2 0,-1-4 0,2-7 0,2-9 0,2-11 0,3-6 0,0 1 0,0 7 0,0 12 0,0 13 0,-1 10 0,-3 8 0,-1 1 0,-1-3 0,-1-9 0,1-8 0,-1-9 0,3-13 0,1-12 0,2-6 0,1 3 0,0 12 0,0 20 0,0 17 0,0 12 0,0 1 0,0-6 0,0-7 0,0-11 0,0-17 0,0-18 0,0-14 0,0-2 0,0 8 0,0 12 0,0 15 0,0 14 0,0 14 0,0 7 0,0 0 0,0-6 0,0-11 0,0-18 0,0-22 0,0-17 0,0-7 0,0 5 0,0 21 0,-3 29 0,-3 27 0,-2 22 0,0 3 0,3-11 0,4-18 0,1-25 0,0-24 0,1-22 0,1-4 0,2 9 0,0 17 0,-1 24 0,-2 22 0,-1 18 0,0 7 0,0-10 0,0-12 0,-2-18 0,-4-18 0,-4-13 0,-1-11 0,2 4 0,3 10 0,3 11 0,2 15 0,1 8 0,0 4 0,0 0 0,0-9 0,0-45 0,-4 8 0,-2-27 0,0 33 0,1 18 0,3 21 0,1 16 0,1 6 0,0-5 0,0-9 0,1-12 0,2-5 0,2-8 0,2-12 0,-2-15 0,0-13 0,-3-6 0,0 10 0,0 13 0,1 14 0,0 11 0,-1 11 0,1 12 0,-1 7 0,1 0 0,1-8 0,1-10 0,1-15 0,2-16 0,0-14 0,-1-8 0,0 2 0,-2 8 0,-3 13 0,-1 16 0,-1 17 0,0 16 0,0 6 0,0-4 0,0-15 0,2-19 0,5-19 0,5-18 0,2-2 0,-1 3 0,-6 14 0,-3 19 0,-3 20 0,-5 18 0,-2 6 0,-2-2 0,2-14 0,4-25 0,4-19 0,2-14 0,1-1 0,1 10 0,-2 11 0,-4 16 0,-2 18 0,-3 12 0,-1 5 0,2-12 0,3-18 0,1-21 0,0-16 0,1-5 0,1 3 0,0 13 0,0 15 0,-2 20 0,0 13 0,0 1 0,0-8 0,1-13 0,2-12 0,2-11 0,4-11 0,0-2 0,-3 4 0,-2 7 0,-2 12 0,-2 12 0,0 11 0,0 6 0,0-2 0,1-7 0,5-15 0,4-13 0,4-11 0,-2 0 0,-3 9 0,-4 10 0,-4 13 0,0 7 0,-1 3 0,0-2 0,0-9 0,2-10 0,1-9 0,1-3 0,0 2 0,-3 7 0,-1 9 0,0 5 0,0 3 0,0-5 0,0-10 0,2-9 0,-1-4 0,1 2 0,0 7 0,-2 12 0,0 5 0,0-2 0,0-10 0,2-13 0,0-7 0,0 0 0,-2 5 0,-6 7 0,-8 3 0,-5 3 0,-3-1 0,4-8 0,9-14 0,5-12 0,4-6 0,0 7 0,0 17 0,0 14 0,0 16 0,0 11 0,0 6 0,0 0 0,0-11 0,0-17 0,0-15 0,0-9 0,0 4 0,0 13 0,0 17 0,0 13 0,0 4 0,0-2 0,0-14 0,0-12 0,0-19 0,2-14 0,0-6 0,0 5 0,0 14 0,-4 20 0,-2 11 0,-3 5 0,-1-5 0,3-11 0,3-19 0,2-19 0,0-9 0,0-3 0,0 8 0,0 13 0,0 9 0,0 7 0,0 4 0,0 1 0,0-2 0,0 0 0,0 0 0,0 0 0,0 2 0,0 0 0,0 1 0,0-2 0,0 1 0,0 0 0,-1 0 0,-2 4 0,-3 13 0,-4 33 0,-3 22 0,2 10 0,4-8 0,4-26 0,3-12 0,-1-12 0,0-11 0,-1-15 0,1-19 0,0-16 0,1-11 0,0 0 0,0 11 0,0 13 0,0 15 0,0 14 0,0 19 0,0 15 0,0 8 0,-2-1 0,0-8 0,-1-13 0,2-12 0,1-7 0,0-3 0,0 0 0,3 3 0,-2 2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13:42:24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274 153 24575,'0'7'0,"0"-1"0,0 0 0,0-1 0,0 2 0,0 0 0,0 0 0,0 2 0,0 2 0,3 2 0,3 3 0,1-2 0,2 0 0,-2-2 0,0-1 0,-3-1 0,-1 0 0,-1-2 0,-2-1 0,0-6 0,0-11 0,0-14 0,0-12 0,0-10 0,-2 0 0,0 8 0,-2 11 0,-1 10 0,0 8 0,-1 4 0,0 3 0,2 4 0,0 2 0,1 3 0,-1 0 0,-1-3 0,-1 0 0,-1-2 0,-2 0 0,-1 1 0,-1 1 0,1 1 0,1 0 0,-1 3 0,3-1 0,0 1 0,2 2 0,2 0 0,1 1 0,2-1 0,0 1 0,1-1 0,3 0 0,1 1 0,2-2 0,-1 0 0,1-2 0,-1 0 0,-1 0 0,-2-3 0,-1-4 0,-4-7 0,-6-8 0,-8-13 0,-2-5 0,4 4 0,4 7 0,6 14 0,-2 4 0,1 3 0,0-3 0,-1-1 0,2 0 0,-3 1 0,-2 4 0,1 0 0,-1 0 0,3 0 0,1 0 0,-1 0 0,0 0 0,-1 0 0,2-1 0,2-2 0,1 0 0,2-4 0,-1-1 0,1-2 0,0-1 0,0 2 0,0 1 0,0-1 0,0 3 0,-1 0 0,-1 2 0,0 6 0,0 2 0,2 7 0,0 3 0,0 1 0,0-1 0,2-6 0,1 1 0,3 0 0,1 2 0,0 1 0,1-2 0,0 1 0,0-2 0,-3-1 0,0-1 0,-2-1 0,1 0 0,1 0 0,-2 1 0,2-2 0,0 0 0,0-1 0,1 1 0,0-2 0,0-2 0,0 0 0,0-1 0,0 0 0,0-1 0,0-3 0,0-1 0,-1-1 0,0 1 0,0 1 0,2 0 0,3-2 0,1-2 0,1-3 0,0-1 0,-1 2 0,-1 0 0,-2 2 0,-2 1 0,0 0 0,-3 1 0,1 1 0,-2 1 0,0 0 0,-1 0 0,-1-2 0,1-1 0,-1-1 0,0-1 0,0-2 0,-1 3 0,-2 0 0,-2 4 0,-2 2 0,0 0 0,-1 2 0,2 0 0,-2 0 0,0 0 0,2-1 0,0-1 0,1-2 0,0 1 0,-1 0 0,1-1 0,-1 2 0,2-1 0,-1 0 0,1 1 0,0 0 0,-2 2 0,1 0 0,-1 0 0,1 0 0,-1 0 0,-1 0 0,2 0 0,-1 0 0,-1 0 0,0 0 0,-2 0 0,1 0 0,1 0 0,2 0 0,-1 0 0,2 1 0,0 1 0,2 2 0,1 1 0,-1 2 0,0 2 0,1 2 0,1 1 0,0 1 0,0 1 0,0 2 0,0 3 0,0 0 0,0-1 0,0-2 0,0-3 0,0-1 0,0-2 0,0 1 0,0 0 0,0 0 0,0 1 0,0 4 0,0 7 0,0 11 0,0 8 0,0 1 0,0-1 0,0-5 0,0-10 0,0-5 0,-1-8 0,-2-6 0,-1-4 0,-2-2 0,0-5 0,-1-10 0,1-8 0,0-11 0,-1-5 0,1 3 0,0 2 0,2 6 0,0 5 0,1 4 0,-1 3 0,0 1 0,2 2 0,-1 4 0,2 1 0,-1 0 0,1-1 0,0 0 0,1 0 0,0 2 0,0-1 0,0 0 0,0 0 0,0 0 0,0 0 0,0 1 0,0-2 0,0 2 0,0-1 0,2-1 0,1 2 0,0-1 0,1 2 0,-2-1 0,0 2 0,2 0 0,0 1 0,2 2 0,0 0 0,0-2 0,0 0 0,1 0 0,-2 1 0,-2 5 0,-2 3 0,-1 2 0,0 2 0,0 2 0,0-1 0,0-2 0,0-2 0,0-3 0,0 0 0,0 0 0,0 0 0,0 1 0,0 1 0,0 0 0,0 0 0,0 0 0,0-2 0,2 0 0,2 2 0,2 1 0,3 2 0,0 1 0,0 0 0,0 1 0,-2 1 0,-1 1 0,0 0 0,0 0 0,1 1 0,0-1 0,1 0 0,0-1 0,-1 0 0,-1-3 0,-3 0 0,1-1 0,0-1 0,1-1 0,0-2 0,0-1 0,0-1 0,-1-3 0,-1-1 0,-2-3 0,-1-2 0,-3 0 0,2 2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14:22:21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209 899 24575,'-4'-51'0,"0"0"0,2 18 0,-2-22 0,0 6 0,4 41 0,0-4 0,0 6 0,0-4 0,0 2 0,0-2 0,0 4 0,0-1 0,0 1 0,0-1 0,0 2 0,0-1 0,-2 1 0,2-3 0,-6-3 0,5-4 0,-8-8 0,4-2 0,-6-6 0,5-1 0,-2 6 0,2-5 0,-3 11 0,3-4 0,-2 6 0,7 5 0,-7-3 0,7 8 0,-2-4 0,0 5 0,2 1 0,-2 0 0,0 2 0,-2 2 0,-2 2 0,2 3 0,0 1 0,4 2 0,-5 1 0,5-1 0,-2 0 0,3 1 0,0 0 0,0-1 0,0 6 0,0-4 0,0 4 0,0-1 0,0-3 0,0 4 0,0-1 0,0-3 0,0 4 0,0-5 0,0-1 0,0 1 0,0 0 0,0 0 0,0 0 0,0-1 0,3 1 0,-2 0 0,2 5 0,-3-5 0,0 5 0,4-1 0,-3 2 0,3 5 0,0-1 0,-3 1 0,3 0 0,0-1 0,-3 1 0,3 0 0,-4-1 0,0 1 0,0-1 0,0-4 0,0 4 0,0-4 0,0-1 0,0 5 0,0-9 0,0 11 0,0-10 0,0 6 0,0-9 0,0 1 0,2 0 0,1-4 0,3 0 0,-3-5 0,-1-7 0,-2-2 0,0-2 0,0-3 0,0 3 0,0 0 0,0-3 0,0 7 0,0-2 0,0 4 0,0 0 0,0 0 0,0 0 0,0 0 0,0 0 0,0 1 0,0-1 0,-3 3 0,2-2 0,-2 2 0,0-3 0,3 1 0,-3 0 0,3 0 0,0 1 0,0-2 0,-3 4 0,2-3 0,-2 2 0,3-2 0,0-1 0,0 0 0,0 1 0,-3 2 0,3 4 0,-3 3 0,3 8 0,0 2 0,0 0 0,0 3 0,0-3 0,0 5 0,0-1 0,0 1 0,0-1 0,0 7 0,3-9 0,-3 8 0,4-10 0,-4-1 0,3 0 0,-3 0 0,3-4 0,-3 3 0,3-4 0,-2 0 0,2 0 0,-3-1 0,0 6 0,0 1 0,0 5 0,4-1 0,-3 7 0,3-9 0,0 8 0,-3-15 0,3 3 0,-4-4 0,3 0 0,0-6 0,0-7 0,-1-1 0,-2-10 0,0 4 0,4-4 0,-3-1 0,3 0 0,-4 0 0,5-6 0,-4 5 0,4-6 0,0 1 0,-4 5 0,8-6 0,-8 12 0,3-3 0,-4 8 0,0-4 0,0 5 0,0 0 0,0 0 0,0 1 0,0-1 0,0 0 0,3 4 0,-2-3 0,2 3 0,-3-4 0,0 6 0,0 13 0,0 2 0,0 10 0,0 0 0,0-4 0,0 11 0,0-12 0,0 5 0,0-6 0,0-1 0,0 1 0,0-5 0,0-2 0,0 1 0,0-4 0,0 4 0,0-6 0,0 1 0,0 0 0,0-1 0,0-4 0,0-8 0,0-6 0,0-12 0,0 4 0,0-11 0,4 12 0,-3-12 0,3 12 0,-4-6 0,3 8 0,-2-1 0,3 5 0,0-4 0,-3 9 0,3-3 0,-1 4 0,-2 0 0,2 6 0,-3 7 0,0 6 0,0 0 0,0 5 0,0-4 0,0 4 0,0 1 0,0 0 0,0-6 0,0 5 0,0-4 0,0 4 0,0-5 0,0 4 0,0-8 0,0 3 0,0-4 0,0 0 0,0 0 0,0 0 0,0-1 0,0 1 0,0 0 0,0-1 0,0 0 0,0 0 0,0 0 0,0 0 0,0 0 0,3-3 0,-2 2 0,2-1 0,0 3 0,1-1 0,-1 1 0,3-2 0,-3-1 0,0-4 0,-1-4 0,-2-7 0,0-2 0,0-4 0,0-1 0,0 0 0,0 0 0,0-6 0,0 5 0,0-6 0,0 1 0,0 5 0,0-12 0,0 12 0,0-6 0,0 8 0,0-1 0,0 5 0,0-4 0,0 9 0,0-3 0,0 4 0,0 1 0,0 0 0,0 7 0,0 1 0,0 11 0,0 0 0,0 0 0,0 3 0,0-3 0,0 0 0,0 3 0,0-3 0,0 5 0,0-6 0,0 5 0,0-4 0,0-1 0,0 5 0,0-9 0,4 8 0,0-8 0,5 9 0,-5-9 0,3 3 0,-6-4 0,2 0 0,0 0 0,-2-1 0,5-2 0,-6 1 0,6-5 0,-3 3 0,0 0 0,3-2 0,-3 4 0,2-4 0,-2-1 0,0-15 0,-3 1 0,0-17 0,0 12 0,0-12 0,0 12 0,0-6 0,0 1 0,0 5 0,0-6 0,0 1 0,0 9 0,0-8 0,0 10 0,0 1 0,0 0 0,0 5 0,0 0 0,-3 0 0,2 0 0,-2 1 0,0-1 0,2 1 0,-2-1 0,3 0 0,0 1 0,0 0 0,0 0 0,0 0 0,-2 3 0,1-2 0,-4 4 0,2-1 0,-3 2 0,0 0 0,-6 0 0,4 0 0,-8 4 0,7 5 0,-8 4 0,9 0 0,-5 4 0,5-5 0,-1 6 0,1-5 0,4 3 0,-2-8 0,1 9 0,1-9 0,0 3 0,0 1 0,3-4 0,-3 8 0,4-8 0,0 4 0,0 0 0,0-4 0,0 3 0,0-4 0,0 0 0,0 0 0,0 0 0,0-1 0,0-7 0,0-9 0,0-5 0,0-1 0,0 0 0,0 3 0,0-5 0,0 0 0,0 1 0,0-1 0,0 0 0,0 0 0,0 6 0,0-5 0,0 10 0,0-5 0,0 5 0,0 0 0,0 0 0,0 1 0,-2 2 0,-2 1 0,-2 3 0,0 0 0,-1 3 0,0 1 0,0 3 0,0 0 0,1 0 0,-2 4 0,4-3 0,-3 4 0,6-5 0,-2-1 0,3 6 0,0-4 0,0 3 0,0-4 0,0 5 0,0-4 0,0 3 0,0 1 0,0-4 0,0 8 0,0-3 0,0 0 0,0 3 0,0-8 0,0 4 0,0-5 0,0 0 0,0-1 0,0 1 0,0 0 0,0 0 0,0-1 0,0 0 0,3-2 0,0-2 0,3-2 0,-3-3 0,3-1 0,-5-7 0,2 3 0,1-9 0,-3 4 0,3-5 0,-1 6 0,-3-5 0,7 4 0,-6 0 0,7-3 0,-7 3 0,3 0 0,0-4 0,-3 9 0,3-8 0,-4 8 0,0-4 0,0 5 0,0 0 0,0 1 0,0-1 0,0 2 0,0-1 0,0 0 0,0 1 0,0-1 0,0 0 0,0 0 0,3-1 0,-2 0 0,2 1 0,-3-1 0,4-5 0,-3 1 0,3-2 0,-4 3 0,3 4 0,-2-1 0,2 0 0,-3 0 0,0-5 0,0-1 0,0-5 0,0 6 0,0-5 0,0 4 0,0 0 0,0 2 0,0 4 0,0 0 0,-2 4 0,-2 0 0,-2 3 0,-1 0 0,0 0 0,1 0 0,-1 0 0,1 3 0,0-2 0,2 5 0,-2-5 0,6 5 0,-6-2 0,5 2 0,-5-2 0,5 1 0,-2-1 0,3 2 0,0 1 0,0-1 0,0 0 0,0 1 0,0 0 0,0 0 0,0-1 0,0 1 0,0 0 0,0 0 0,0 0 0,0-1 0,0 1 0,0 0 0,0-1 0,3-3 0,0 0 0,2-3 0,1 0 0,0 0 0,-1 0 0,2 0 0,-1 3 0,1-2 0,0 4 0,-1-4 0,1 5 0,0-5 0,0 2 0,0 0 0,0-2 0,0 2 0,0-3 0,-1 0 0,6 0 0,-4 0 0,9 0 0,-9 0 0,4 0 0,-6-3 0,6-6 0,-4 1 0,5-9 0,-6 9 0,1-4 0,0 1 0,-1 3 0,-3-4 0,-1 5 0,1 0 0,-4 1 0,3-1 0,-3 2 0,-2 2 0,-1 0 0,-3 3 0,-3 0 0,1 0 0,-1 0 0,2 0 0,-5 4 0,4 0 0,-3 4 0,3 3 0,1-3 0,-1 4 0,0 0 0,1-4 0,3 8 0,-2-8 0,5 4 0,-5-6 0,5 1 0,-5 0 0,5 0 0,-5 0 0,6-1 0,-7-2 0,7 2 0,-6-5 0,2 5 0,-2-5 0,-1 2 0,2-3 0,-1 0 0,3-3 0,-3-1 0,6-2 0,-3-1 0,3 0 0,0 0 0,0 0 0,0 0 0,0 1 0,0-1 0,0 0 0,0 1 0,0-1 0,0 1 0,0-1 0,0 0 0,0 0 0,0 1 0,0-1 0,0 1 0,0-1 0,0 0 0,0 1 0,0 0 0,0 0 0,0 0 0,0 1 0,0-1 0,-3 3 0,0 1 0,-8 2 0,4 0 0,-5 0 0,0 0 0,4 0 0,-8 0 0,8 3 0,-4-2 0,6 5 0,-1-3 0,0 1 0,0 2 0,3-2 0,-1 2 0,4 1 0,-4-4 0,7 0 0,-1-11 0,6 3 0,1-7 0,-2 5 0,1 0 0,0 0 0,0 0 0,0 4 0,0-4 0,0 7 0,0-7 0,0 7 0,-1-3 0,1 3 0,0 0 0,0 0 0,0 0 0,0 0 0,0 0 0,0 0 0,0 0 0,-1 0 0,1 0 0,0 0 0,0 0 0,0 0 0,0 0 0,0 0 0,0 0 0,0 0 0,-1 0 0,1 0 0,0 0 0,0 0 0,0 0 0,0 0 0,0 0 0,0 0 0,-1 0 0,-2 3 0,-1 0 0,-3 4 0,0-1 0,0 1 0,0-1 0,0 1 0,0-1 0,0 1 0,0 0 0,0 0 0,0 0 0,2-4 0,1 0 0,3-3 0,0 0 0,-2-3 0,-2 0 0,2-9 0,-3 4 0,3-4 0,-4 5 0,0 0 0,0 1 0,0-1 0,0 1 0,-2 0 0,-2 3 0,-2 0 0,-1 0 0,0 3 0,1-4 0,-1 4 0,0-3 0,0 3 0,0-3 0,1 0 0,-1 2 0,1-5 0,0 5 0,3-4 0,-3 4 0,3-5 0,-3 6 0,0-3 0,0 3 0,0 0 0,-1 0 0,0 0 0,1 0 0,-6 0 0,4 0 0,-8 0 0,8 3 0,-4-2 0,5 5 0,0-3 0,1 1 0,-1 2 0,3-2 0,-2 0 0,5 1 0,0-4 0,5 2 0,2-3 0,1-3 0,0-1 0,0-3 0,0 3 0,0-2 0,4 1 0,-3 1 0,4-3 0,-5 6 0,0-5 0,0 6 0,0-7 0,0 7 0,-1-3 0,1 0 0,0 2 0,0-2 0,0 3 0,0-3 0,0 2 0,0-2 0,-1 3 0,1 0 0,-1 0 0,-2-3 0,2 2 0,-2-2 0,3 0 0,-1 3 0,0-6 0,1 6 0,-1-3 0,-2 0 0,1 3 0,-2-3 0,0 1 0,3 1 0,-6-4 0,3 2 0,-3-2 0,0-1 0,0 1 0,0-1 0,0 0 0,0 0 0,0 0 0,0 1 0,-2 2 0,-1 1 0,-3 2 0,1 0 0,-2 0 0,1 0 0,0 0 0,0 0 0,-1 0 0,1 0 0,-1 0 0,1 0 0,0 0 0,0 2 0,-1-1 0,1 5 0,-1-6 0,3 6 0,-2-5 0,3 5 0,-4-6 0,4 6 0,-3-6 0,3 3 0,0-1 0,-2-1 0,4 4 0,-4-4 0,4 4 0,-4-5 0,1 3 0,1-1 0,-3-1 0,6 4 0,-6-4 0,5 4 0,-2-7 0,8 1 0,-4-5 0,7 3 0,-7-3 0,4 6 0,-2-3 0,1 0 0,1 3 0,-2-3 0,0 1 0,3 1 0,-3-4 0,3 4 0,0-4 0,0 5 0,0-3 0,0 3 0,1 0 0,0 0 0,-1-3 0,1 3 0,-1-3 0,1 3 0,0 0 0,-1 0 0,0 0 0,0 0 0,1 0 0,-1 0 0,0 0 0,0 0 0,-5 0 0,-5-6 0,-3 4 0,-2-4 0,2 6 0,1 0 0,-1 0 0,1 0 0,-1 0 0,1 0 0,-1 0 0,1 0 0,0 0 0,0 0 0,0 0 0,0 0 0,1 0 0,-1 0 0,0 0 0,0 0 0,1 0 0,-1 0 0,0 0 0,0 3 0,1-2 0,-1 4 0,-1-5 0,1 3 0,3 0 0,-3-2 0,2 2 0,-2-3 0,2 3 0,-1-2 0,1 2 0,-2-3 0,0 3 0,0 0 0,0 0 0,3 3 0,-2-5 0,4 4 0,-5-4 0,8-1 0,-2-3 0,5 0 0,-1-3 0,1 6 0,-4-7 0,5 7 0,-5-6 0,5 5 0,-2-5 0,0 2 0,2 0 0,-2-2 0,2 3 0,1-1 0,-4-2 0,3 5 0,-2-5 0,3 5 0,-4-5 0,3 6 0,-6-7 0,6 7 0,-5-6 0,5 5 0,-3-1 0,1-1 0,1 2 0,-1-2 0,2 3 0,0 0 0,-1 0 0,1 0 0,0 0 0,0 0 0,-1 0 0,1 0 0,0 0 0,0 0 0,-1 0 0,-4 0 0,-5 0 0,-3 0 0,-3 0 0,-2 0 0,4 0 0,-3 0 0,-1 0 0,4 0 0,-8 0 0,8 0 0,-9 0 0,9 0 0,-3 0 0,4 0 0,0 0 0,0 0 0,0 0 0,1 0 0,-1 0 0,1 0 0,-1 0 0,0 0 0,1 0 0,-1 0 0,1 0 0,0 0 0,3 3 0,-2 0 0,4 3 0,-4-2 0,5 1 0,-3-1 0,3 2 0,0-1 0,0 0 0,-3-2 0,2 2 0,-2-7 0,9-2 0,-4-3 0,7 1 0,-8 0 0,5 5 0,-2-5 0,2 3 0,1-1 0,-4-2 0,3 5 0,-6-5 0,6 6 0,-2-3 0,3 0 0,0 2 0,0-5 0,0 5 0,0-5 0,0 2 0,-1 0 0,1-2 0,0 3 0,0-4 0,-1 0 0,1 0 0,0 4 0,0-4 0,0 7 0,0-6 0,-1 5 0,1-2 0,0 3 0,-3-3 0,2 2 0,-2-2 0,3 3 0,-1 0 0,0 0 0,1-3 0,0 2 0,-1-2 0,1 0 0,0 2 0,0-2 0,0 3 0,-3-3 0,2 2 0,-3-2 0,4 3 0,-2 0 0,1 0 0,-1 0 0,-2 3 0,2-3 0,-4 5 0,2-2 0,-3 3 0,0 0 0,0-1 0,0 2 0,0-1 0,0 0 0,0 0 0,0 1 0,0-1 0,0 1 0,0-1 0,0 1 0,0-1 0,0 1 0,0-1 0,0 1 0,0-1 0,0 0 0,0 0 0,0 0 0,0 0 0,0 0 0,0 0 0,0 0 0,0 0 0,0 0 0,0 0 0,0 0 0,0 0 0,0 0 0,0 0 0,0 0 0,0-1 0,0 2 0,-3-4 0,2 3 0,-2-2 0,3 3 0,0-1 0,-3 1 0,2-1 0,-5-3 0,5 2 0,-5-4 0,6 5 0,-6-6 0,5 6 0,-4-5 0,4 5 0,-4-2 0,5 2 0,-6 0 0,6 0 0,-3-1 0,3 1 0,0 1 0,0-1 0,0 0 0,0 1 0,0-1 0,0 1 0,0 0 0,0 0 0,0 0 0,0-1 0,0 1 0,0-1 0,0 1 0,0 0 0,0-1 0,0 1 0,0 0 0,0 0 0,0 0 0,0-1 0,0 1 0,0-1 0,0 1 0,0 0 0,0 0 0,0 4 0,0-3 0,0 9 0,0-5 0,0 13 0,0-6 0,0 12 0,0-12 0,0 12 0,0-12 0,0 5 0,0-6 0,0 0 0,0-1 0,0-4 0,0 3 0,0-8 0,0 4 0,0 0 0,0-4 0,0 3 0,0-4 0,0 0 0,0 0 0,0-1 0,0 1 0,0-1 0,0 0 0,0 1 0,0-1 0,0 0 0,0-5 0,0-17 0,0-5 0,0-14 0,0 2 0,0 1 0,0-1 0,0 7 0,0-5 0,0 12 0,0-12 0,0 12 0,0-6 0,0 8 0,0-1 0,0 0 0,0 0 0,0 5 0,0-3 0,0 8 0,0-4 0,0 5 0,0 1 0,0-1 0,0 1 0,0 0 0,0 0 0,0 0 0,0 0 0,0 0 0,0 0 0,0 0 0,0-1 0,0 1 0,0 0 0,0 0 0,0 0 0,3 3 0,-3-3 0,3 3 0,-3-3 0,0-1 0,0 1 0,0-1 0,0 1 0,0 0 0,0 0 0,0 1 0,0-1 0,0 6 0,0 4 0,-3 3 0,-1 3 0,-2-4 0,-2 6 0,1-4 0,2 1 0,2-6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46519"/>
            <a:ext cx="12188825" cy="411480"/>
          </a:xfrm>
          <a:custGeom>
            <a:avLst/>
            <a:gdLst/>
            <a:ahLst/>
            <a:cxnLst/>
            <a:rect l="l" t="t" r="r" b="b"/>
            <a:pathLst>
              <a:path w="12188825" h="411479">
                <a:moveTo>
                  <a:pt x="12188825" y="0"/>
                </a:moveTo>
                <a:lnTo>
                  <a:pt x="0" y="0"/>
                </a:lnTo>
                <a:lnTo>
                  <a:pt x="0" y="411479"/>
                </a:lnTo>
                <a:lnTo>
                  <a:pt x="12188825" y="411479"/>
                </a:lnTo>
                <a:lnTo>
                  <a:pt x="1218882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9944" y="6419317"/>
            <a:ext cx="4058920" cy="0"/>
          </a:xfrm>
          <a:custGeom>
            <a:avLst/>
            <a:gdLst/>
            <a:ahLst/>
            <a:cxnLst/>
            <a:rect l="l" t="t" r="r" b="b"/>
            <a:pathLst>
              <a:path w="4058920">
                <a:moveTo>
                  <a:pt x="0" y="0"/>
                </a:moveTo>
                <a:lnTo>
                  <a:pt x="4058879" y="1"/>
                </a:lnTo>
              </a:path>
            </a:pathLst>
          </a:custGeom>
          <a:ln w="50800">
            <a:solidFill>
              <a:srgbClr val="DF70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1" y="6420058"/>
            <a:ext cx="8130540" cy="0"/>
          </a:xfrm>
          <a:custGeom>
            <a:avLst/>
            <a:gdLst/>
            <a:ahLst/>
            <a:cxnLst/>
            <a:rect l="l" t="t" r="r" b="b"/>
            <a:pathLst>
              <a:path w="8130540">
                <a:moveTo>
                  <a:pt x="0" y="0"/>
                </a:moveTo>
                <a:lnTo>
                  <a:pt x="8129946" y="1"/>
                </a:lnTo>
              </a:path>
            </a:pathLst>
          </a:custGeom>
          <a:ln w="50800">
            <a:solidFill>
              <a:srgbClr val="0F78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29944" y="25938"/>
            <a:ext cx="4058920" cy="0"/>
          </a:xfrm>
          <a:custGeom>
            <a:avLst/>
            <a:gdLst/>
            <a:ahLst/>
            <a:cxnLst/>
            <a:rect l="l" t="t" r="r" b="b"/>
            <a:pathLst>
              <a:path w="4058920">
                <a:moveTo>
                  <a:pt x="0" y="0"/>
                </a:moveTo>
                <a:lnTo>
                  <a:pt x="4058879" y="1"/>
                </a:lnTo>
              </a:path>
            </a:pathLst>
          </a:custGeom>
          <a:ln w="508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1" y="26681"/>
            <a:ext cx="8130540" cy="0"/>
          </a:xfrm>
          <a:custGeom>
            <a:avLst/>
            <a:gdLst/>
            <a:ahLst/>
            <a:cxnLst/>
            <a:rect l="l" t="t" r="r" b="b"/>
            <a:pathLst>
              <a:path w="8130540">
                <a:moveTo>
                  <a:pt x="0" y="0"/>
                </a:moveTo>
                <a:lnTo>
                  <a:pt x="8129946" y="1"/>
                </a:lnTo>
              </a:path>
            </a:pathLst>
          </a:custGeom>
          <a:ln w="50800">
            <a:solidFill>
              <a:srgbClr val="9015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94926" y="0"/>
            <a:ext cx="781082" cy="122923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26102" y="6584950"/>
            <a:ext cx="2143572" cy="12700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435973" y="6602765"/>
            <a:ext cx="701040" cy="92710"/>
          </a:xfrm>
          <a:custGeom>
            <a:avLst/>
            <a:gdLst/>
            <a:ahLst/>
            <a:cxnLst/>
            <a:rect l="l" t="t" r="r" b="b"/>
            <a:pathLst>
              <a:path w="701040" h="92709">
                <a:moveTo>
                  <a:pt x="15882" y="58247"/>
                </a:moveTo>
                <a:lnTo>
                  <a:pt x="0" y="58247"/>
                </a:lnTo>
                <a:lnTo>
                  <a:pt x="0" y="63073"/>
                </a:lnTo>
                <a:lnTo>
                  <a:pt x="692" y="67277"/>
                </a:lnTo>
                <a:lnTo>
                  <a:pt x="736" y="67545"/>
                </a:lnTo>
                <a:lnTo>
                  <a:pt x="3568" y="75442"/>
                </a:lnTo>
                <a:lnTo>
                  <a:pt x="3686" y="75770"/>
                </a:lnTo>
                <a:lnTo>
                  <a:pt x="29362" y="92173"/>
                </a:lnTo>
                <a:lnTo>
                  <a:pt x="41074" y="92173"/>
                </a:lnTo>
                <a:lnTo>
                  <a:pt x="70278" y="77209"/>
                </a:lnTo>
                <a:lnTo>
                  <a:pt x="33011" y="77209"/>
                </a:lnTo>
                <a:lnTo>
                  <a:pt x="31536" y="76977"/>
                </a:lnTo>
                <a:lnTo>
                  <a:pt x="31150" y="76977"/>
                </a:lnTo>
                <a:lnTo>
                  <a:pt x="26245" y="75442"/>
                </a:lnTo>
                <a:lnTo>
                  <a:pt x="15882" y="61659"/>
                </a:lnTo>
                <a:lnTo>
                  <a:pt x="15882" y="58247"/>
                </a:lnTo>
                <a:close/>
              </a:path>
              <a:path w="701040" h="92709">
                <a:moveTo>
                  <a:pt x="41099" y="0"/>
                </a:moveTo>
                <a:lnTo>
                  <a:pt x="31940" y="0"/>
                </a:lnTo>
                <a:lnTo>
                  <a:pt x="28809" y="414"/>
                </a:lnTo>
                <a:lnTo>
                  <a:pt x="4170" y="21008"/>
                </a:lnTo>
                <a:lnTo>
                  <a:pt x="4211" y="30074"/>
                </a:lnTo>
                <a:lnTo>
                  <a:pt x="5038" y="33498"/>
                </a:lnTo>
                <a:lnTo>
                  <a:pt x="5073" y="33644"/>
                </a:lnTo>
                <a:lnTo>
                  <a:pt x="35262" y="50887"/>
                </a:lnTo>
                <a:lnTo>
                  <a:pt x="40603" y="52240"/>
                </a:lnTo>
                <a:lnTo>
                  <a:pt x="56995" y="62866"/>
                </a:lnTo>
                <a:lnTo>
                  <a:pt x="56917" y="67545"/>
                </a:lnTo>
                <a:lnTo>
                  <a:pt x="38479" y="77209"/>
                </a:lnTo>
                <a:lnTo>
                  <a:pt x="70278" y="77209"/>
                </a:lnTo>
                <a:lnTo>
                  <a:pt x="72737" y="72651"/>
                </a:lnTo>
                <a:lnTo>
                  <a:pt x="73558" y="69288"/>
                </a:lnTo>
                <a:lnTo>
                  <a:pt x="73653" y="59661"/>
                </a:lnTo>
                <a:lnTo>
                  <a:pt x="72636" y="55530"/>
                </a:lnTo>
                <a:lnTo>
                  <a:pt x="37221" y="36094"/>
                </a:lnTo>
                <a:lnTo>
                  <a:pt x="34728" y="35497"/>
                </a:lnTo>
                <a:lnTo>
                  <a:pt x="20167" y="26991"/>
                </a:lnTo>
                <a:lnTo>
                  <a:pt x="20167" y="23920"/>
                </a:lnTo>
                <a:lnTo>
                  <a:pt x="34053" y="14854"/>
                </a:lnTo>
                <a:lnTo>
                  <a:pt x="69425" y="14854"/>
                </a:lnTo>
                <a:lnTo>
                  <a:pt x="67994" y="12356"/>
                </a:lnTo>
                <a:lnTo>
                  <a:pt x="46211" y="414"/>
                </a:lnTo>
                <a:lnTo>
                  <a:pt x="41099" y="0"/>
                </a:lnTo>
                <a:close/>
              </a:path>
              <a:path w="701040" h="92709">
                <a:moveTo>
                  <a:pt x="69425" y="14854"/>
                </a:moveTo>
                <a:lnTo>
                  <a:pt x="38301" y="14854"/>
                </a:lnTo>
                <a:lnTo>
                  <a:pt x="41257" y="15122"/>
                </a:lnTo>
                <a:lnTo>
                  <a:pt x="40902" y="15122"/>
                </a:lnTo>
                <a:lnTo>
                  <a:pt x="56476" y="28404"/>
                </a:lnTo>
                <a:lnTo>
                  <a:pt x="56599" y="29903"/>
                </a:lnTo>
                <a:lnTo>
                  <a:pt x="56614" y="30074"/>
                </a:lnTo>
                <a:lnTo>
                  <a:pt x="72610" y="30074"/>
                </a:lnTo>
                <a:lnTo>
                  <a:pt x="72610" y="25492"/>
                </a:lnTo>
                <a:lnTo>
                  <a:pt x="72000" y="21593"/>
                </a:lnTo>
                <a:lnTo>
                  <a:pt x="69576" y="15122"/>
                </a:lnTo>
                <a:lnTo>
                  <a:pt x="69425" y="14854"/>
                </a:lnTo>
                <a:close/>
              </a:path>
              <a:path w="701040" h="92709">
                <a:moveTo>
                  <a:pt x="146391" y="16475"/>
                </a:moveTo>
                <a:lnTo>
                  <a:pt x="130775" y="16475"/>
                </a:lnTo>
                <a:lnTo>
                  <a:pt x="130775" y="90674"/>
                </a:lnTo>
                <a:lnTo>
                  <a:pt x="146391" y="90674"/>
                </a:lnTo>
                <a:lnTo>
                  <a:pt x="146391" y="16475"/>
                </a:lnTo>
                <a:close/>
              </a:path>
              <a:path w="701040" h="92709">
                <a:moveTo>
                  <a:pt x="175157" y="1511"/>
                </a:moveTo>
                <a:lnTo>
                  <a:pt x="102151" y="1511"/>
                </a:lnTo>
                <a:lnTo>
                  <a:pt x="102151" y="16475"/>
                </a:lnTo>
                <a:lnTo>
                  <a:pt x="175157" y="16475"/>
                </a:lnTo>
                <a:lnTo>
                  <a:pt x="175157" y="1511"/>
                </a:lnTo>
                <a:close/>
              </a:path>
              <a:path w="701040" h="92709">
                <a:moveTo>
                  <a:pt x="275476" y="1511"/>
                </a:moveTo>
                <a:lnTo>
                  <a:pt x="205473" y="1511"/>
                </a:lnTo>
                <a:lnTo>
                  <a:pt x="205473" y="90674"/>
                </a:lnTo>
                <a:lnTo>
                  <a:pt x="275603" y="90674"/>
                </a:lnTo>
                <a:lnTo>
                  <a:pt x="275603" y="75710"/>
                </a:lnTo>
                <a:lnTo>
                  <a:pt x="221343" y="75710"/>
                </a:lnTo>
                <a:lnTo>
                  <a:pt x="221343" y="51143"/>
                </a:lnTo>
                <a:lnTo>
                  <a:pt x="272361" y="51143"/>
                </a:lnTo>
                <a:lnTo>
                  <a:pt x="272361" y="35801"/>
                </a:lnTo>
                <a:lnTo>
                  <a:pt x="221343" y="35801"/>
                </a:lnTo>
                <a:lnTo>
                  <a:pt x="221343" y="16475"/>
                </a:lnTo>
                <a:lnTo>
                  <a:pt x="275476" y="16475"/>
                </a:lnTo>
                <a:lnTo>
                  <a:pt x="275476" y="1511"/>
                </a:lnTo>
                <a:close/>
              </a:path>
              <a:path w="701040" h="92709">
                <a:moveTo>
                  <a:pt x="319858" y="1511"/>
                </a:moveTo>
                <a:lnTo>
                  <a:pt x="301762" y="1511"/>
                </a:lnTo>
                <a:lnTo>
                  <a:pt x="333121" y="90674"/>
                </a:lnTo>
                <a:lnTo>
                  <a:pt x="354726" y="90674"/>
                </a:lnTo>
                <a:lnTo>
                  <a:pt x="360255" y="75210"/>
                </a:lnTo>
                <a:lnTo>
                  <a:pt x="344312" y="75210"/>
                </a:lnTo>
                <a:lnTo>
                  <a:pt x="319858" y="1511"/>
                </a:lnTo>
                <a:close/>
              </a:path>
              <a:path w="701040" h="92709">
                <a:moveTo>
                  <a:pt x="386607" y="1511"/>
                </a:moveTo>
                <a:lnTo>
                  <a:pt x="369045" y="1511"/>
                </a:lnTo>
                <a:lnTo>
                  <a:pt x="344312" y="75210"/>
                </a:lnTo>
                <a:lnTo>
                  <a:pt x="360255" y="75210"/>
                </a:lnTo>
                <a:lnTo>
                  <a:pt x="386607" y="1511"/>
                </a:lnTo>
                <a:close/>
              </a:path>
              <a:path w="701040" h="92709">
                <a:moveTo>
                  <a:pt x="484206" y="1511"/>
                </a:moveTo>
                <a:lnTo>
                  <a:pt x="414188" y="1511"/>
                </a:lnTo>
                <a:lnTo>
                  <a:pt x="414188" y="90674"/>
                </a:lnTo>
                <a:lnTo>
                  <a:pt x="484333" y="90674"/>
                </a:lnTo>
                <a:lnTo>
                  <a:pt x="484333" y="75710"/>
                </a:lnTo>
                <a:lnTo>
                  <a:pt x="430071" y="75710"/>
                </a:lnTo>
                <a:lnTo>
                  <a:pt x="430071" y="51143"/>
                </a:lnTo>
                <a:lnTo>
                  <a:pt x="481078" y="51143"/>
                </a:lnTo>
                <a:lnTo>
                  <a:pt x="481078" y="35801"/>
                </a:lnTo>
                <a:lnTo>
                  <a:pt x="430071" y="35801"/>
                </a:lnTo>
                <a:lnTo>
                  <a:pt x="430071" y="16475"/>
                </a:lnTo>
                <a:lnTo>
                  <a:pt x="484206" y="16475"/>
                </a:lnTo>
                <a:lnTo>
                  <a:pt x="484206" y="1511"/>
                </a:lnTo>
                <a:close/>
              </a:path>
              <a:path w="701040" h="92709">
                <a:moveTo>
                  <a:pt x="532084" y="1511"/>
                </a:moveTo>
                <a:lnTo>
                  <a:pt x="518159" y="1511"/>
                </a:lnTo>
                <a:lnTo>
                  <a:pt x="518159" y="90674"/>
                </a:lnTo>
                <a:lnTo>
                  <a:pt x="533126" y="90674"/>
                </a:lnTo>
                <a:lnTo>
                  <a:pt x="533126" y="30439"/>
                </a:lnTo>
                <a:lnTo>
                  <a:pt x="553530" y="30439"/>
                </a:lnTo>
                <a:lnTo>
                  <a:pt x="532084" y="1511"/>
                </a:lnTo>
                <a:close/>
              </a:path>
              <a:path w="701040" h="92709">
                <a:moveTo>
                  <a:pt x="553530" y="30439"/>
                </a:moveTo>
                <a:lnTo>
                  <a:pt x="533126" y="30439"/>
                </a:lnTo>
                <a:lnTo>
                  <a:pt x="578283" y="90674"/>
                </a:lnTo>
                <a:lnTo>
                  <a:pt x="592334" y="90674"/>
                </a:lnTo>
                <a:lnTo>
                  <a:pt x="592334" y="62610"/>
                </a:lnTo>
                <a:lnTo>
                  <a:pt x="577380" y="62610"/>
                </a:lnTo>
                <a:lnTo>
                  <a:pt x="553530" y="30439"/>
                </a:lnTo>
                <a:close/>
              </a:path>
              <a:path w="701040" h="92709">
                <a:moveTo>
                  <a:pt x="592334" y="1511"/>
                </a:moveTo>
                <a:lnTo>
                  <a:pt x="577380" y="1511"/>
                </a:lnTo>
                <a:lnTo>
                  <a:pt x="577380" y="62610"/>
                </a:lnTo>
                <a:lnTo>
                  <a:pt x="592334" y="62610"/>
                </a:lnTo>
                <a:lnTo>
                  <a:pt x="592334" y="1511"/>
                </a:lnTo>
                <a:close/>
              </a:path>
              <a:path w="701040" h="92709">
                <a:moveTo>
                  <a:pt x="642959" y="58247"/>
                </a:moveTo>
                <a:lnTo>
                  <a:pt x="627076" y="58247"/>
                </a:lnTo>
                <a:lnTo>
                  <a:pt x="627076" y="63073"/>
                </a:lnTo>
                <a:lnTo>
                  <a:pt x="627770" y="67277"/>
                </a:lnTo>
                <a:lnTo>
                  <a:pt x="627814" y="67545"/>
                </a:lnTo>
                <a:lnTo>
                  <a:pt x="630646" y="75442"/>
                </a:lnTo>
                <a:lnTo>
                  <a:pt x="630764" y="75770"/>
                </a:lnTo>
                <a:lnTo>
                  <a:pt x="656438" y="92173"/>
                </a:lnTo>
                <a:lnTo>
                  <a:pt x="668150" y="92173"/>
                </a:lnTo>
                <a:lnTo>
                  <a:pt x="697359" y="77209"/>
                </a:lnTo>
                <a:lnTo>
                  <a:pt x="660088" y="77209"/>
                </a:lnTo>
                <a:lnTo>
                  <a:pt x="658613" y="76977"/>
                </a:lnTo>
                <a:lnTo>
                  <a:pt x="658226" y="76977"/>
                </a:lnTo>
                <a:lnTo>
                  <a:pt x="653323" y="75442"/>
                </a:lnTo>
                <a:lnTo>
                  <a:pt x="642959" y="61659"/>
                </a:lnTo>
                <a:lnTo>
                  <a:pt x="642959" y="58247"/>
                </a:lnTo>
                <a:close/>
              </a:path>
              <a:path w="701040" h="92709">
                <a:moveTo>
                  <a:pt x="668176" y="0"/>
                </a:moveTo>
                <a:lnTo>
                  <a:pt x="659019" y="0"/>
                </a:lnTo>
                <a:lnTo>
                  <a:pt x="655898" y="414"/>
                </a:lnTo>
                <a:lnTo>
                  <a:pt x="631247" y="21008"/>
                </a:lnTo>
                <a:lnTo>
                  <a:pt x="631288" y="30074"/>
                </a:lnTo>
                <a:lnTo>
                  <a:pt x="632114" y="33498"/>
                </a:lnTo>
                <a:lnTo>
                  <a:pt x="632150" y="33644"/>
                </a:lnTo>
                <a:lnTo>
                  <a:pt x="662339" y="50887"/>
                </a:lnTo>
                <a:lnTo>
                  <a:pt x="667679" y="52240"/>
                </a:lnTo>
                <a:lnTo>
                  <a:pt x="684071" y="62866"/>
                </a:lnTo>
                <a:lnTo>
                  <a:pt x="683993" y="67545"/>
                </a:lnTo>
                <a:lnTo>
                  <a:pt x="683601" y="68898"/>
                </a:lnTo>
                <a:lnTo>
                  <a:pt x="683538" y="69117"/>
                </a:lnTo>
                <a:lnTo>
                  <a:pt x="665556" y="77209"/>
                </a:lnTo>
                <a:lnTo>
                  <a:pt x="697359" y="77209"/>
                </a:lnTo>
                <a:lnTo>
                  <a:pt x="699827" y="72651"/>
                </a:lnTo>
                <a:lnTo>
                  <a:pt x="700636" y="69288"/>
                </a:lnTo>
                <a:lnTo>
                  <a:pt x="700730" y="59661"/>
                </a:lnTo>
                <a:lnTo>
                  <a:pt x="699712" y="55530"/>
                </a:lnTo>
                <a:lnTo>
                  <a:pt x="664297" y="36094"/>
                </a:lnTo>
                <a:lnTo>
                  <a:pt x="661804" y="35497"/>
                </a:lnTo>
                <a:lnTo>
                  <a:pt x="647244" y="26991"/>
                </a:lnTo>
                <a:lnTo>
                  <a:pt x="647244" y="23920"/>
                </a:lnTo>
                <a:lnTo>
                  <a:pt x="661131" y="14854"/>
                </a:lnTo>
                <a:lnTo>
                  <a:pt x="696501" y="14854"/>
                </a:lnTo>
                <a:lnTo>
                  <a:pt x="695071" y="12356"/>
                </a:lnTo>
                <a:lnTo>
                  <a:pt x="673300" y="414"/>
                </a:lnTo>
                <a:lnTo>
                  <a:pt x="668176" y="0"/>
                </a:lnTo>
                <a:close/>
              </a:path>
              <a:path w="701040" h="92709">
                <a:moveTo>
                  <a:pt x="696501" y="14854"/>
                </a:moveTo>
                <a:lnTo>
                  <a:pt x="665378" y="14854"/>
                </a:lnTo>
                <a:lnTo>
                  <a:pt x="668333" y="15122"/>
                </a:lnTo>
                <a:lnTo>
                  <a:pt x="667980" y="15122"/>
                </a:lnTo>
                <a:lnTo>
                  <a:pt x="683552" y="28404"/>
                </a:lnTo>
                <a:lnTo>
                  <a:pt x="683676" y="29903"/>
                </a:lnTo>
                <a:lnTo>
                  <a:pt x="683690" y="30074"/>
                </a:lnTo>
                <a:lnTo>
                  <a:pt x="699687" y="30074"/>
                </a:lnTo>
                <a:lnTo>
                  <a:pt x="699687" y="25492"/>
                </a:lnTo>
                <a:lnTo>
                  <a:pt x="699090" y="21593"/>
                </a:lnTo>
                <a:lnTo>
                  <a:pt x="696652" y="15122"/>
                </a:lnTo>
                <a:lnTo>
                  <a:pt x="696501" y="14854"/>
                </a:lnTo>
                <a:close/>
              </a:path>
            </a:pathLst>
          </a:custGeom>
          <a:solidFill>
            <a:srgbClr val="B30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1069" y="57403"/>
            <a:ext cx="10181590" cy="111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4157" y="1400047"/>
            <a:ext cx="5385434" cy="4549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customXml" Target="../ink/ink2.xml"/><Relationship Id="rId12" Type="http://schemas.openxmlformats.org/officeDocument/2006/relationships/customXml" Target="../ink/ink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9.jpeg"/><Relationship Id="rId5" Type="http://schemas.openxmlformats.org/officeDocument/2006/relationships/customXml" Target="../ink/ink1.xml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7713" y="1196775"/>
            <a:ext cx="5199888" cy="56612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-7637"/>
            <a:ext cx="12188825" cy="52069"/>
            <a:chOff x="0" y="-7637"/>
            <a:chExt cx="12188825" cy="52069"/>
          </a:xfrm>
        </p:grpSpPr>
        <p:sp>
          <p:nvSpPr>
            <p:cNvPr id="4" name="object 4"/>
            <p:cNvSpPr/>
            <p:nvPr/>
          </p:nvSpPr>
          <p:spPr>
            <a:xfrm>
              <a:off x="0" y="17762"/>
              <a:ext cx="4058920" cy="0"/>
            </a:xfrm>
            <a:custGeom>
              <a:avLst/>
              <a:gdLst/>
              <a:ahLst/>
              <a:cxnLst/>
              <a:rect l="l" t="t" r="r" b="b"/>
              <a:pathLst>
                <a:path w="4058920">
                  <a:moveTo>
                    <a:pt x="4058879" y="0"/>
                  </a:moveTo>
                  <a:lnTo>
                    <a:pt x="0" y="1"/>
                  </a:lnTo>
                </a:path>
              </a:pathLst>
            </a:custGeom>
            <a:ln w="508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8877" y="18503"/>
              <a:ext cx="8130540" cy="0"/>
            </a:xfrm>
            <a:custGeom>
              <a:avLst/>
              <a:gdLst/>
              <a:ahLst/>
              <a:cxnLst/>
              <a:rect l="l" t="t" r="r" b="b"/>
              <a:pathLst>
                <a:path w="8130540">
                  <a:moveTo>
                    <a:pt x="8129946" y="0"/>
                  </a:moveTo>
                  <a:lnTo>
                    <a:pt x="0" y="1"/>
                  </a:lnTo>
                </a:path>
              </a:pathLst>
            </a:custGeom>
            <a:ln w="50800">
              <a:solidFill>
                <a:srgbClr val="901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86743" y="616055"/>
            <a:ext cx="1701164" cy="589915"/>
            <a:chOff x="1286743" y="616055"/>
            <a:chExt cx="1701164" cy="589915"/>
          </a:xfrm>
        </p:grpSpPr>
        <p:sp>
          <p:nvSpPr>
            <p:cNvPr id="7" name="object 7"/>
            <p:cNvSpPr/>
            <p:nvPr/>
          </p:nvSpPr>
          <p:spPr>
            <a:xfrm>
              <a:off x="1289367" y="959421"/>
              <a:ext cx="265430" cy="76835"/>
            </a:xfrm>
            <a:custGeom>
              <a:avLst/>
              <a:gdLst/>
              <a:ahLst/>
              <a:cxnLst/>
              <a:rect l="l" t="t" r="r" b="b"/>
              <a:pathLst>
                <a:path w="265430" h="76834">
                  <a:moveTo>
                    <a:pt x="8432" y="1447"/>
                  </a:moveTo>
                  <a:lnTo>
                    <a:pt x="0" y="1447"/>
                  </a:lnTo>
                  <a:lnTo>
                    <a:pt x="0" y="75272"/>
                  </a:lnTo>
                  <a:lnTo>
                    <a:pt x="8432" y="75272"/>
                  </a:lnTo>
                  <a:lnTo>
                    <a:pt x="8432" y="1447"/>
                  </a:lnTo>
                  <a:close/>
                </a:path>
                <a:path w="265430" h="76834">
                  <a:moveTo>
                    <a:pt x="98717" y="1435"/>
                  </a:moveTo>
                  <a:lnTo>
                    <a:pt x="91186" y="1435"/>
                  </a:lnTo>
                  <a:lnTo>
                    <a:pt x="91186" y="61048"/>
                  </a:lnTo>
                  <a:lnTo>
                    <a:pt x="48869" y="1435"/>
                  </a:lnTo>
                  <a:lnTo>
                    <a:pt x="40944" y="1435"/>
                  </a:lnTo>
                  <a:lnTo>
                    <a:pt x="40944" y="75260"/>
                  </a:lnTo>
                  <a:lnTo>
                    <a:pt x="48463" y="75260"/>
                  </a:lnTo>
                  <a:lnTo>
                    <a:pt x="48463" y="16281"/>
                  </a:lnTo>
                  <a:lnTo>
                    <a:pt x="90754" y="75260"/>
                  </a:lnTo>
                  <a:lnTo>
                    <a:pt x="98717" y="75260"/>
                  </a:lnTo>
                  <a:lnTo>
                    <a:pt x="98717" y="1435"/>
                  </a:lnTo>
                  <a:close/>
                </a:path>
                <a:path w="265430" h="76834">
                  <a:moveTo>
                    <a:pt x="184708" y="51269"/>
                  </a:moveTo>
                  <a:lnTo>
                    <a:pt x="150926" y="30721"/>
                  </a:lnTo>
                  <a:lnTo>
                    <a:pt x="148488" y="29946"/>
                  </a:lnTo>
                  <a:lnTo>
                    <a:pt x="144221" y="28028"/>
                  </a:lnTo>
                  <a:lnTo>
                    <a:pt x="142519" y="26835"/>
                  </a:lnTo>
                  <a:lnTo>
                    <a:pt x="139890" y="24091"/>
                  </a:lnTo>
                  <a:lnTo>
                    <a:pt x="139268" y="22275"/>
                  </a:lnTo>
                  <a:lnTo>
                    <a:pt x="139268" y="18351"/>
                  </a:lnTo>
                  <a:lnTo>
                    <a:pt x="153327" y="8128"/>
                  </a:lnTo>
                  <a:lnTo>
                    <a:pt x="157505" y="8128"/>
                  </a:lnTo>
                  <a:lnTo>
                    <a:pt x="175044" y="26085"/>
                  </a:lnTo>
                  <a:lnTo>
                    <a:pt x="183578" y="26085"/>
                  </a:lnTo>
                  <a:lnTo>
                    <a:pt x="158254" y="0"/>
                  </a:lnTo>
                  <a:lnTo>
                    <a:pt x="155892" y="0"/>
                  </a:lnTo>
                  <a:lnTo>
                    <a:pt x="152869" y="0"/>
                  </a:lnTo>
                  <a:lnTo>
                    <a:pt x="130784" y="16573"/>
                  </a:lnTo>
                  <a:lnTo>
                    <a:pt x="130784" y="24472"/>
                  </a:lnTo>
                  <a:lnTo>
                    <a:pt x="157162" y="40513"/>
                  </a:lnTo>
                  <a:lnTo>
                    <a:pt x="160769" y="41478"/>
                  </a:lnTo>
                  <a:lnTo>
                    <a:pt x="167474" y="43688"/>
                  </a:lnTo>
                  <a:lnTo>
                    <a:pt x="170243" y="45186"/>
                  </a:lnTo>
                  <a:lnTo>
                    <a:pt x="174625" y="48958"/>
                  </a:lnTo>
                  <a:lnTo>
                    <a:pt x="175742" y="51650"/>
                  </a:lnTo>
                  <a:lnTo>
                    <a:pt x="175742" y="57569"/>
                  </a:lnTo>
                  <a:lnTo>
                    <a:pt x="157772" y="68453"/>
                  </a:lnTo>
                  <a:lnTo>
                    <a:pt x="151904" y="68453"/>
                  </a:lnTo>
                  <a:lnTo>
                    <a:pt x="135636" y="51993"/>
                  </a:lnTo>
                  <a:lnTo>
                    <a:pt x="135636" y="48577"/>
                  </a:lnTo>
                  <a:lnTo>
                    <a:pt x="127368" y="48577"/>
                  </a:lnTo>
                  <a:lnTo>
                    <a:pt x="127368" y="52336"/>
                  </a:lnTo>
                  <a:lnTo>
                    <a:pt x="127876" y="55943"/>
                  </a:lnTo>
                  <a:lnTo>
                    <a:pt x="149898" y="76619"/>
                  </a:lnTo>
                  <a:lnTo>
                    <a:pt x="159296" y="76619"/>
                  </a:lnTo>
                  <a:lnTo>
                    <a:pt x="184708" y="58153"/>
                  </a:lnTo>
                  <a:lnTo>
                    <a:pt x="184708" y="51269"/>
                  </a:lnTo>
                  <a:close/>
                </a:path>
                <a:path w="265430" h="76834">
                  <a:moveTo>
                    <a:pt x="265087" y="1435"/>
                  </a:moveTo>
                  <a:lnTo>
                    <a:pt x="208038" y="1435"/>
                  </a:lnTo>
                  <a:lnTo>
                    <a:pt x="208038" y="9588"/>
                  </a:lnTo>
                  <a:lnTo>
                    <a:pt x="232384" y="9588"/>
                  </a:lnTo>
                  <a:lnTo>
                    <a:pt x="232384" y="75260"/>
                  </a:lnTo>
                  <a:lnTo>
                    <a:pt x="240677" y="75260"/>
                  </a:lnTo>
                  <a:lnTo>
                    <a:pt x="240677" y="9588"/>
                  </a:lnTo>
                  <a:lnTo>
                    <a:pt x="265087" y="9588"/>
                  </a:lnTo>
                  <a:lnTo>
                    <a:pt x="265087" y="1435"/>
                  </a:lnTo>
                  <a:close/>
                </a:path>
              </a:pathLst>
            </a:custGeom>
            <a:solidFill>
              <a:srgbClr val="B307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6743" y="616055"/>
              <a:ext cx="1700645" cy="58953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701" y="0"/>
            <a:ext cx="834066" cy="150397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1" y="6387591"/>
            <a:ext cx="12188825" cy="470534"/>
            <a:chOff x="-1" y="6387591"/>
            <a:chExt cx="12188825" cy="470534"/>
          </a:xfrm>
        </p:grpSpPr>
        <p:sp>
          <p:nvSpPr>
            <p:cNvPr id="11" name="object 11"/>
            <p:cNvSpPr/>
            <p:nvPr/>
          </p:nvSpPr>
          <p:spPr>
            <a:xfrm>
              <a:off x="-1" y="6406186"/>
              <a:ext cx="12188825" cy="452120"/>
            </a:xfrm>
            <a:custGeom>
              <a:avLst/>
              <a:gdLst/>
              <a:ahLst/>
              <a:cxnLst/>
              <a:rect l="l" t="t" r="r" b="b"/>
              <a:pathLst>
                <a:path w="12188825" h="452120">
                  <a:moveTo>
                    <a:pt x="12188824" y="0"/>
                  </a:moveTo>
                  <a:lnTo>
                    <a:pt x="0" y="0"/>
                  </a:lnTo>
                  <a:lnTo>
                    <a:pt x="0" y="451812"/>
                  </a:lnTo>
                  <a:lnTo>
                    <a:pt x="12188824" y="451812"/>
                  </a:lnTo>
                  <a:lnTo>
                    <a:pt x="1218882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6412991"/>
              <a:ext cx="4058920" cy="0"/>
            </a:xfrm>
            <a:custGeom>
              <a:avLst/>
              <a:gdLst/>
              <a:ahLst/>
              <a:cxnLst/>
              <a:rect l="l" t="t" r="r" b="b"/>
              <a:pathLst>
                <a:path w="4058920">
                  <a:moveTo>
                    <a:pt x="4058879" y="0"/>
                  </a:moveTo>
                  <a:lnTo>
                    <a:pt x="0" y="1"/>
                  </a:lnTo>
                </a:path>
              </a:pathLst>
            </a:custGeom>
            <a:ln w="50800">
              <a:solidFill>
                <a:srgbClr val="DF7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58877" y="6413733"/>
              <a:ext cx="8130540" cy="0"/>
            </a:xfrm>
            <a:custGeom>
              <a:avLst/>
              <a:gdLst/>
              <a:ahLst/>
              <a:cxnLst/>
              <a:rect l="l" t="t" r="r" b="b"/>
              <a:pathLst>
                <a:path w="8130540">
                  <a:moveTo>
                    <a:pt x="8129946" y="0"/>
                  </a:moveTo>
                  <a:lnTo>
                    <a:pt x="0" y="1"/>
                  </a:lnTo>
                </a:path>
              </a:pathLst>
            </a:custGeom>
            <a:ln w="50800">
              <a:solidFill>
                <a:srgbClr val="0F78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00800" y="4796626"/>
            <a:ext cx="5598795" cy="137281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500" b="1" dirty="0">
                <a:latin typeface="Times New Roman"/>
                <a:cs typeface="Times New Roman"/>
              </a:rPr>
              <a:t>Advisor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Prof.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lang="en-US" sz="1500" spc="-15" dirty="0">
                <a:latin typeface="Times New Roman"/>
                <a:cs typeface="Times New Roman"/>
              </a:rPr>
              <a:t>Majeed Simaan</a:t>
            </a: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500" b="1" dirty="0">
                <a:latin typeface="Times New Roman"/>
                <a:cs typeface="Times New Roman"/>
              </a:rPr>
              <a:t>Course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Professor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Prof.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Zhenyu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Cui</a:t>
            </a: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Presented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lang="en-US" sz="1500" spc="-20" dirty="0">
                <a:latin typeface="Times New Roman"/>
                <a:cs typeface="Times New Roman"/>
              </a:rPr>
              <a:t>Mrinal Gupta, Siddharth Jain, Venkata Bhargava, Varda Matalia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975" y="3739388"/>
            <a:ext cx="434213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220" dirty="0">
                <a:latin typeface="Times New Roman"/>
                <a:cs typeface="Times New Roman"/>
              </a:rPr>
              <a:t>F</a:t>
            </a:r>
            <a:r>
              <a:rPr lang="en-US" sz="3000" i="1" spc="-220" dirty="0">
                <a:latin typeface="Times New Roman"/>
                <a:cs typeface="Times New Roman"/>
              </a:rPr>
              <a:t>E</a:t>
            </a:r>
            <a:r>
              <a:rPr sz="3000" i="1" dirty="0">
                <a:latin typeface="Times New Roman"/>
                <a:cs typeface="Times New Roman"/>
              </a:rPr>
              <a:t>800</a:t>
            </a:r>
            <a:r>
              <a:rPr sz="3000" i="1" spc="-30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–</a:t>
            </a:r>
            <a:r>
              <a:rPr sz="3000" i="1" spc="-10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Final</a:t>
            </a:r>
            <a:r>
              <a:rPr sz="3000" i="1" spc="-10" dirty="0">
                <a:latin typeface="Times New Roman"/>
                <a:cs typeface="Times New Roman"/>
              </a:rPr>
              <a:t> Presentation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14092" y="1963419"/>
            <a:ext cx="8336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solidFill>
                  <a:srgbClr val="604A7B"/>
                </a:solidFill>
              </a:rPr>
              <a:t>Dynamic Trading </a:t>
            </a:r>
            <a:r>
              <a:rPr lang="en-US" sz="4000" dirty="0"/>
              <a:t>with Predictable Returns and </a:t>
            </a:r>
            <a:r>
              <a:rPr lang="en-US" sz="4000" dirty="0">
                <a:solidFill>
                  <a:srgbClr val="604A7B"/>
                </a:solidFill>
              </a:rPr>
              <a:t>Transaction Costs.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601" y="1302326"/>
            <a:ext cx="3649979" cy="365099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124585">
              <a:lnSpc>
                <a:spcPct val="100000"/>
              </a:lnSpc>
              <a:spcBef>
                <a:spcPts val="270"/>
              </a:spcBef>
            </a:pPr>
            <a:r>
              <a:rPr sz="1500" b="1" spc="-10" dirty="0">
                <a:latin typeface="Times New Roman"/>
                <a:cs typeface="Times New Roman"/>
              </a:rPr>
              <a:t>BACKGROUND</a:t>
            </a:r>
            <a:endParaRPr lang="en-US" sz="1500" b="1" spc="-10" dirty="0">
              <a:latin typeface="Times New Roman"/>
              <a:cs typeface="Times New Roman"/>
            </a:endParaRPr>
          </a:p>
          <a:p>
            <a:pPr marL="377190" marR="25082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7190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Traditional portfolio models often ignore transaction costs and return predictability.</a:t>
            </a:r>
          </a:p>
          <a:p>
            <a:pPr marL="377190" marR="25082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7190" algn="l"/>
              </a:tabLst>
            </a:pPr>
            <a:r>
              <a:rPr lang="en-US" sz="1500" dirty="0" err="1">
                <a:latin typeface="Times New Roman"/>
                <a:cs typeface="Times New Roman"/>
              </a:rPr>
              <a:t>Gârleanu</a:t>
            </a:r>
            <a:r>
              <a:rPr lang="en-US" sz="1500" dirty="0">
                <a:latin typeface="Times New Roman"/>
                <a:cs typeface="Times New Roman"/>
              </a:rPr>
              <a:t> &amp; Pedersen (2013) provide a realistic framework for dynamic trading.</a:t>
            </a:r>
          </a:p>
          <a:p>
            <a:pPr marL="377190" marR="25082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7190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Our study implements this model using historical factor and industry return data.</a:t>
            </a:r>
          </a:p>
          <a:p>
            <a:pPr marL="377190" marR="25082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7190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Emphasis on understanding signal decay and trading friction in real markets.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39655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5165" y="1302326"/>
            <a:ext cx="3975100" cy="27276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500" b="1" spc="-10" dirty="0">
                <a:latin typeface="Times New Roman"/>
                <a:cs typeface="Times New Roman"/>
              </a:rPr>
              <a:t>OBJECTIVES</a:t>
            </a:r>
            <a:endParaRPr sz="1500" dirty="0">
              <a:latin typeface="Times New Roman"/>
              <a:cs typeface="Times New Roman"/>
            </a:endParaRPr>
          </a:p>
          <a:p>
            <a:pPr marL="513080" marR="219710" indent="-286385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876935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Construct and evaluate a dynamic trading strategy using predictable returns.</a:t>
            </a:r>
          </a:p>
          <a:p>
            <a:pPr marL="513080" marR="219710" indent="-286385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876935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Compare performance against equal-weight and static benchmark strategies.</a:t>
            </a:r>
          </a:p>
          <a:p>
            <a:pPr marL="513080" marR="219710" indent="-286385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876935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Assess risk-adjusted returns, turnover, and regime-specific outcomes.</a:t>
            </a:r>
          </a:p>
          <a:p>
            <a:pPr marL="513080" marR="219710" indent="-286385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876935" algn="l"/>
              </a:tabLst>
            </a:pPr>
            <a:r>
              <a:rPr lang="en-US" sz="1500" dirty="0">
                <a:latin typeface="Times New Roman"/>
                <a:cs typeface="Times New Roman"/>
              </a:rPr>
              <a:t>Analyze the trade-off between alpha capture and trading costs.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5164" y="4157702"/>
            <a:ext cx="3985258" cy="19832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500" b="1" dirty="0">
                <a:latin typeface="Times New Roman"/>
                <a:cs typeface="Times New Roman"/>
              </a:rPr>
              <a:t>TIME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PERIOD</a:t>
            </a:r>
            <a:endParaRPr lang="en-US" sz="1500" b="1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endParaRPr lang="en-US" sz="1500" b="1" spc="-10" dirty="0">
              <a:latin typeface="Times New Roman"/>
              <a:cs typeface="Times New Roman"/>
            </a:endParaRP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In-Sample: 1963 – 1996</a:t>
            </a: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b="1" spc="-10" dirty="0">
              <a:latin typeface="Times New Roman"/>
              <a:cs typeface="Times New Roman"/>
            </a:endParaRP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Out-of-Sample: 1996 – 2024</a:t>
            </a: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b="1" spc="-10" dirty="0">
              <a:latin typeface="Times New Roman"/>
              <a:cs typeface="Times New Roman"/>
            </a:endParaRPr>
          </a:p>
          <a:p>
            <a:pPr marL="285750" indent="-28575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Regime-based evaluations: Pre-GFC, Post-GFC, Post-COVID, High Rates</a:t>
            </a:r>
            <a:endParaRPr lang="en-US" sz="1500" b="1" spc="-1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3849" y="1302326"/>
            <a:ext cx="3395345" cy="3420167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270"/>
              </a:spcBef>
            </a:pPr>
            <a:r>
              <a:rPr sz="1500" b="1" spc="-10" dirty="0">
                <a:latin typeface="Times New Roman"/>
                <a:cs typeface="Times New Roman"/>
              </a:rPr>
              <a:t>SCOPE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PARAMETERS</a:t>
            </a:r>
            <a:endParaRPr sz="1500" dirty="0">
              <a:latin typeface="Times New Roman"/>
              <a:cs typeface="Times New Roman"/>
            </a:endParaRPr>
          </a:p>
          <a:p>
            <a:pPr marL="376555" marR="13144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6555" algn="l"/>
              </a:tabLst>
            </a:pPr>
            <a:r>
              <a:rPr lang="en-US" sz="1500" dirty="0">
                <a:latin typeface="Microsoft Sans Serif"/>
                <a:cs typeface="Microsoft Sans Serif"/>
              </a:rPr>
              <a:t>Asset universe: 10 Fama-French industry portfolios (1963–2024).</a:t>
            </a:r>
          </a:p>
          <a:p>
            <a:pPr marL="376555" marR="13144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6555" algn="l"/>
              </a:tabLst>
            </a:pPr>
            <a:r>
              <a:rPr lang="en-US" sz="1500" dirty="0">
                <a:latin typeface="Microsoft Sans Serif"/>
                <a:cs typeface="Microsoft Sans Serif"/>
              </a:rPr>
              <a:t>Predictors: Momentum, Mkt-RF, SMB, HML, RMW, CMA.</a:t>
            </a:r>
          </a:p>
          <a:p>
            <a:pPr marL="376555" marR="13144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6555" algn="l"/>
              </a:tabLst>
            </a:pPr>
            <a:r>
              <a:rPr lang="en-US" sz="1500" dirty="0">
                <a:latin typeface="Microsoft Sans Serif"/>
                <a:cs typeface="Microsoft Sans Serif"/>
              </a:rPr>
              <a:t>Techniques: </a:t>
            </a:r>
            <a:r>
              <a:rPr lang="en-US" sz="1500" dirty="0" err="1">
                <a:latin typeface="Microsoft Sans Serif"/>
                <a:cs typeface="Microsoft Sans Serif"/>
              </a:rPr>
              <a:t>ElasticNet</a:t>
            </a:r>
            <a:r>
              <a:rPr lang="en-US" sz="1500" dirty="0">
                <a:latin typeface="Microsoft Sans Serif"/>
                <a:cs typeface="Microsoft Sans Serif"/>
              </a:rPr>
              <a:t> regression, </a:t>
            </a:r>
            <a:r>
              <a:rPr lang="en-US" sz="1500" dirty="0" err="1">
                <a:latin typeface="Microsoft Sans Serif"/>
                <a:cs typeface="Microsoft Sans Serif"/>
              </a:rPr>
              <a:t>Ledoit</a:t>
            </a:r>
            <a:r>
              <a:rPr lang="en-US" sz="1500" dirty="0">
                <a:latin typeface="Microsoft Sans Serif"/>
                <a:cs typeface="Microsoft Sans Serif"/>
              </a:rPr>
              <a:t>-Wolf shrinkage, rolling window estimation.</a:t>
            </a:r>
          </a:p>
          <a:p>
            <a:pPr marL="376555" marR="131445" indent="-285750">
              <a:lnSpc>
                <a:spcPct val="100000"/>
              </a:lnSpc>
              <a:spcBef>
                <a:spcPts val="1200"/>
              </a:spcBef>
              <a:buFont typeface="Microsoft Sans Serif"/>
              <a:buChar char="•"/>
              <a:tabLst>
                <a:tab pos="376555" algn="l"/>
              </a:tabLst>
            </a:pPr>
            <a:r>
              <a:rPr lang="en-US" sz="1500" dirty="0">
                <a:latin typeface="Microsoft Sans Serif"/>
                <a:cs typeface="Microsoft Sans Serif"/>
              </a:rPr>
              <a:t>Performance metrics: Sharpe ratio, cumulative return, drawdown, turnover.</a:t>
            </a:r>
            <a:endParaRPr sz="15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6393917"/>
            <a:ext cx="12188825" cy="464184"/>
            <a:chOff x="-1" y="6393917"/>
            <a:chExt cx="12188825" cy="464184"/>
          </a:xfrm>
        </p:grpSpPr>
        <p:sp>
          <p:nvSpPr>
            <p:cNvPr id="3" name="object 3"/>
            <p:cNvSpPr/>
            <p:nvPr/>
          </p:nvSpPr>
          <p:spPr>
            <a:xfrm>
              <a:off x="0" y="6446519"/>
              <a:ext cx="12188825" cy="411480"/>
            </a:xfrm>
            <a:custGeom>
              <a:avLst/>
              <a:gdLst/>
              <a:ahLst/>
              <a:cxnLst/>
              <a:rect l="l" t="t" r="r" b="b"/>
              <a:pathLst>
                <a:path w="12188825" h="411479">
                  <a:moveTo>
                    <a:pt x="12188825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12188825" y="411479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129944" y="6419317"/>
              <a:ext cx="4058920" cy="0"/>
            </a:xfrm>
            <a:custGeom>
              <a:avLst/>
              <a:gdLst/>
              <a:ahLst/>
              <a:cxnLst/>
              <a:rect l="l" t="t" r="r" b="b"/>
              <a:pathLst>
                <a:path w="4058920">
                  <a:moveTo>
                    <a:pt x="0" y="0"/>
                  </a:moveTo>
                  <a:lnTo>
                    <a:pt x="4058879" y="1"/>
                  </a:lnTo>
                </a:path>
              </a:pathLst>
            </a:custGeom>
            <a:ln w="50800">
              <a:solidFill>
                <a:srgbClr val="DF7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" y="6420058"/>
              <a:ext cx="8130540" cy="0"/>
            </a:xfrm>
            <a:custGeom>
              <a:avLst/>
              <a:gdLst/>
              <a:ahLst/>
              <a:cxnLst/>
              <a:rect l="l" t="t" r="r" b="b"/>
              <a:pathLst>
                <a:path w="8130540">
                  <a:moveTo>
                    <a:pt x="0" y="0"/>
                  </a:moveTo>
                  <a:lnTo>
                    <a:pt x="8129946" y="1"/>
                  </a:lnTo>
                </a:path>
              </a:pathLst>
            </a:custGeom>
            <a:ln w="50800">
              <a:solidFill>
                <a:srgbClr val="0F78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1" y="0"/>
            <a:ext cx="12188825" cy="1229360"/>
            <a:chOff x="-1" y="0"/>
            <a:chExt cx="12188825" cy="1229360"/>
          </a:xfrm>
        </p:grpSpPr>
        <p:sp>
          <p:nvSpPr>
            <p:cNvPr id="7" name="object 7"/>
            <p:cNvSpPr/>
            <p:nvPr/>
          </p:nvSpPr>
          <p:spPr>
            <a:xfrm>
              <a:off x="8129944" y="25938"/>
              <a:ext cx="4058920" cy="0"/>
            </a:xfrm>
            <a:custGeom>
              <a:avLst/>
              <a:gdLst/>
              <a:ahLst/>
              <a:cxnLst/>
              <a:rect l="l" t="t" r="r" b="b"/>
              <a:pathLst>
                <a:path w="4058920">
                  <a:moveTo>
                    <a:pt x="0" y="0"/>
                  </a:moveTo>
                  <a:lnTo>
                    <a:pt x="4058879" y="1"/>
                  </a:lnTo>
                </a:path>
              </a:pathLst>
            </a:custGeom>
            <a:ln w="508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" y="26681"/>
              <a:ext cx="8130540" cy="0"/>
            </a:xfrm>
            <a:custGeom>
              <a:avLst/>
              <a:gdLst/>
              <a:ahLst/>
              <a:cxnLst/>
              <a:rect l="l" t="t" r="r" b="b"/>
              <a:pathLst>
                <a:path w="8130540">
                  <a:moveTo>
                    <a:pt x="0" y="0"/>
                  </a:moveTo>
                  <a:lnTo>
                    <a:pt x="8129946" y="1"/>
                  </a:lnTo>
                </a:path>
              </a:pathLst>
            </a:custGeom>
            <a:ln w="50800">
              <a:solidFill>
                <a:srgbClr val="9015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94926" y="0"/>
              <a:ext cx="781082" cy="1229231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6102" y="6584950"/>
            <a:ext cx="2143572" cy="12700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435973" y="6602765"/>
            <a:ext cx="701040" cy="92710"/>
          </a:xfrm>
          <a:custGeom>
            <a:avLst/>
            <a:gdLst/>
            <a:ahLst/>
            <a:cxnLst/>
            <a:rect l="l" t="t" r="r" b="b"/>
            <a:pathLst>
              <a:path w="701040" h="92709">
                <a:moveTo>
                  <a:pt x="15882" y="58247"/>
                </a:moveTo>
                <a:lnTo>
                  <a:pt x="0" y="58247"/>
                </a:lnTo>
                <a:lnTo>
                  <a:pt x="0" y="63073"/>
                </a:lnTo>
                <a:lnTo>
                  <a:pt x="692" y="67277"/>
                </a:lnTo>
                <a:lnTo>
                  <a:pt x="736" y="67545"/>
                </a:lnTo>
                <a:lnTo>
                  <a:pt x="3568" y="75442"/>
                </a:lnTo>
                <a:lnTo>
                  <a:pt x="3686" y="75770"/>
                </a:lnTo>
                <a:lnTo>
                  <a:pt x="29362" y="92173"/>
                </a:lnTo>
                <a:lnTo>
                  <a:pt x="41074" y="92173"/>
                </a:lnTo>
                <a:lnTo>
                  <a:pt x="70278" y="77209"/>
                </a:lnTo>
                <a:lnTo>
                  <a:pt x="33011" y="77209"/>
                </a:lnTo>
                <a:lnTo>
                  <a:pt x="31536" y="76977"/>
                </a:lnTo>
                <a:lnTo>
                  <a:pt x="31150" y="76977"/>
                </a:lnTo>
                <a:lnTo>
                  <a:pt x="26245" y="75442"/>
                </a:lnTo>
                <a:lnTo>
                  <a:pt x="15882" y="61659"/>
                </a:lnTo>
                <a:lnTo>
                  <a:pt x="15882" y="58247"/>
                </a:lnTo>
                <a:close/>
              </a:path>
              <a:path w="701040" h="92709">
                <a:moveTo>
                  <a:pt x="41099" y="0"/>
                </a:moveTo>
                <a:lnTo>
                  <a:pt x="31940" y="0"/>
                </a:lnTo>
                <a:lnTo>
                  <a:pt x="28809" y="414"/>
                </a:lnTo>
                <a:lnTo>
                  <a:pt x="4170" y="21008"/>
                </a:lnTo>
                <a:lnTo>
                  <a:pt x="4211" y="30074"/>
                </a:lnTo>
                <a:lnTo>
                  <a:pt x="5038" y="33498"/>
                </a:lnTo>
                <a:lnTo>
                  <a:pt x="5073" y="33644"/>
                </a:lnTo>
                <a:lnTo>
                  <a:pt x="35262" y="50887"/>
                </a:lnTo>
                <a:lnTo>
                  <a:pt x="40603" y="52240"/>
                </a:lnTo>
                <a:lnTo>
                  <a:pt x="56995" y="62866"/>
                </a:lnTo>
                <a:lnTo>
                  <a:pt x="56917" y="67545"/>
                </a:lnTo>
                <a:lnTo>
                  <a:pt x="38479" y="77209"/>
                </a:lnTo>
                <a:lnTo>
                  <a:pt x="70278" y="77209"/>
                </a:lnTo>
                <a:lnTo>
                  <a:pt x="72737" y="72651"/>
                </a:lnTo>
                <a:lnTo>
                  <a:pt x="73558" y="69288"/>
                </a:lnTo>
                <a:lnTo>
                  <a:pt x="73653" y="59661"/>
                </a:lnTo>
                <a:lnTo>
                  <a:pt x="72636" y="55530"/>
                </a:lnTo>
                <a:lnTo>
                  <a:pt x="37221" y="36094"/>
                </a:lnTo>
                <a:lnTo>
                  <a:pt x="34728" y="35497"/>
                </a:lnTo>
                <a:lnTo>
                  <a:pt x="20167" y="26991"/>
                </a:lnTo>
                <a:lnTo>
                  <a:pt x="20167" y="23920"/>
                </a:lnTo>
                <a:lnTo>
                  <a:pt x="34053" y="14854"/>
                </a:lnTo>
                <a:lnTo>
                  <a:pt x="69425" y="14854"/>
                </a:lnTo>
                <a:lnTo>
                  <a:pt x="67994" y="12356"/>
                </a:lnTo>
                <a:lnTo>
                  <a:pt x="46211" y="414"/>
                </a:lnTo>
                <a:lnTo>
                  <a:pt x="41099" y="0"/>
                </a:lnTo>
                <a:close/>
              </a:path>
              <a:path w="701040" h="92709">
                <a:moveTo>
                  <a:pt x="69425" y="14854"/>
                </a:moveTo>
                <a:lnTo>
                  <a:pt x="38301" y="14854"/>
                </a:lnTo>
                <a:lnTo>
                  <a:pt x="41257" y="15122"/>
                </a:lnTo>
                <a:lnTo>
                  <a:pt x="40902" y="15122"/>
                </a:lnTo>
                <a:lnTo>
                  <a:pt x="56476" y="28404"/>
                </a:lnTo>
                <a:lnTo>
                  <a:pt x="56599" y="29903"/>
                </a:lnTo>
                <a:lnTo>
                  <a:pt x="56614" y="30074"/>
                </a:lnTo>
                <a:lnTo>
                  <a:pt x="72610" y="30074"/>
                </a:lnTo>
                <a:lnTo>
                  <a:pt x="72610" y="25492"/>
                </a:lnTo>
                <a:lnTo>
                  <a:pt x="72000" y="21593"/>
                </a:lnTo>
                <a:lnTo>
                  <a:pt x="69576" y="15122"/>
                </a:lnTo>
                <a:lnTo>
                  <a:pt x="69425" y="14854"/>
                </a:lnTo>
                <a:close/>
              </a:path>
              <a:path w="701040" h="92709">
                <a:moveTo>
                  <a:pt x="146391" y="16475"/>
                </a:moveTo>
                <a:lnTo>
                  <a:pt x="130775" y="16475"/>
                </a:lnTo>
                <a:lnTo>
                  <a:pt x="130775" y="90674"/>
                </a:lnTo>
                <a:lnTo>
                  <a:pt x="146391" y="90674"/>
                </a:lnTo>
                <a:lnTo>
                  <a:pt x="146391" y="16475"/>
                </a:lnTo>
                <a:close/>
              </a:path>
              <a:path w="701040" h="92709">
                <a:moveTo>
                  <a:pt x="175157" y="1511"/>
                </a:moveTo>
                <a:lnTo>
                  <a:pt x="102151" y="1511"/>
                </a:lnTo>
                <a:lnTo>
                  <a:pt x="102151" y="16475"/>
                </a:lnTo>
                <a:lnTo>
                  <a:pt x="175157" y="16475"/>
                </a:lnTo>
                <a:lnTo>
                  <a:pt x="175157" y="1511"/>
                </a:lnTo>
                <a:close/>
              </a:path>
              <a:path w="701040" h="92709">
                <a:moveTo>
                  <a:pt x="275476" y="1511"/>
                </a:moveTo>
                <a:lnTo>
                  <a:pt x="205473" y="1511"/>
                </a:lnTo>
                <a:lnTo>
                  <a:pt x="205473" y="90674"/>
                </a:lnTo>
                <a:lnTo>
                  <a:pt x="275603" y="90674"/>
                </a:lnTo>
                <a:lnTo>
                  <a:pt x="275603" y="75710"/>
                </a:lnTo>
                <a:lnTo>
                  <a:pt x="221343" y="75710"/>
                </a:lnTo>
                <a:lnTo>
                  <a:pt x="221343" y="51143"/>
                </a:lnTo>
                <a:lnTo>
                  <a:pt x="272361" y="51143"/>
                </a:lnTo>
                <a:lnTo>
                  <a:pt x="272361" y="35801"/>
                </a:lnTo>
                <a:lnTo>
                  <a:pt x="221343" y="35801"/>
                </a:lnTo>
                <a:lnTo>
                  <a:pt x="221343" y="16475"/>
                </a:lnTo>
                <a:lnTo>
                  <a:pt x="275476" y="16475"/>
                </a:lnTo>
                <a:lnTo>
                  <a:pt x="275476" y="1511"/>
                </a:lnTo>
                <a:close/>
              </a:path>
              <a:path w="701040" h="92709">
                <a:moveTo>
                  <a:pt x="319858" y="1511"/>
                </a:moveTo>
                <a:lnTo>
                  <a:pt x="301762" y="1511"/>
                </a:lnTo>
                <a:lnTo>
                  <a:pt x="333121" y="90674"/>
                </a:lnTo>
                <a:lnTo>
                  <a:pt x="354726" y="90674"/>
                </a:lnTo>
                <a:lnTo>
                  <a:pt x="360255" y="75210"/>
                </a:lnTo>
                <a:lnTo>
                  <a:pt x="344312" y="75210"/>
                </a:lnTo>
                <a:lnTo>
                  <a:pt x="319858" y="1511"/>
                </a:lnTo>
                <a:close/>
              </a:path>
              <a:path w="701040" h="92709">
                <a:moveTo>
                  <a:pt x="386607" y="1511"/>
                </a:moveTo>
                <a:lnTo>
                  <a:pt x="369045" y="1511"/>
                </a:lnTo>
                <a:lnTo>
                  <a:pt x="344312" y="75210"/>
                </a:lnTo>
                <a:lnTo>
                  <a:pt x="360255" y="75210"/>
                </a:lnTo>
                <a:lnTo>
                  <a:pt x="386607" y="1511"/>
                </a:lnTo>
                <a:close/>
              </a:path>
              <a:path w="701040" h="92709">
                <a:moveTo>
                  <a:pt x="484206" y="1511"/>
                </a:moveTo>
                <a:lnTo>
                  <a:pt x="414188" y="1511"/>
                </a:lnTo>
                <a:lnTo>
                  <a:pt x="414188" y="90674"/>
                </a:lnTo>
                <a:lnTo>
                  <a:pt x="484333" y="90674"/>
                </a:lnTo>
                <a:lnTo>
                  <a:pt x="484333" y="75710"/>
                </a:lnTo>
                <a:lnTo>
                  <a:pt x="430071" y="75710"/>
                </a:lnTo>
                <a:lnTo>
                  <a:pt x="430071" y="51143"/>
                </a:lnTo>
                <a:lnTo>
                  <a:pt x="481078" y="51143"/>
                </a:lnTo>
                <a:lnTo>
                  <a:pt x="481078" y="35801"/>
                </a:lnTo>
                <a:lnTo>
                  <a:pt x="430071" y="35801"/>
                </a:lnTo>
                <a:lnTo>
                  <a:pt x="430071" y="16475"/>
                </a:lnTo>
                <a:lnTo>
                  <a:pt x="484206" y="16475"/>
                </a:lnTo>
                <a:lnTo>
                  <a:pt x="484206" y="1511"/>
                </a:lnTo>
                <a:close/>
              </a:path>
              <a:path w="701040" h="92709">
                <a:moveTo>
                  <a:pt x="532084" y="1511"/>
                </a:moveTo>
                <a:lnTo>
                  <a:pt x="518159" y="1511"/>
                </a:lnTo>
                <a:lnTo>
                  <a:pt x="518159" y="90674"/>
                </a:lnTo>
                <a:lnTo>
                  <a:pt x="533126" y="90674"/>
                </a:lnTo>
                <a:lnTo>
                  <a:pt x="533126" y="30439"/>
                </a:lnTo>
                <a:lnTo>
                  <a:pt x="553530" y="30439"/>
                </a:lnTo>
                <a:lnTo>
                  <a:pt x="532084" y="1511"/>
                </a:lnTo>
                <a:close/>
              </a:path>
              <a:path w="701040" h="92709">
                <a:moveTo>
                  <a:pt x="553530" y="30439"/>
                </a:moveTo>
                <a:lnTo>
                  <a:pt x="533126" y="30439"/>
                </a:lnTo>
                <a:lnTo>
                  <a:pt x="578283" y="90674"/>
                </a:lnTo>
                <a:lnTo>
                  <a:pt x="592334" y="90674"/>
                </a:lnTo>
                <a:lnTo>
                  <a:pt x="592334" y="62610"/>
                </a:lnTo>
                <a:lnTo>
                  <a:pt x="577380" y="62610"/>
                </a:lnTo>
                <a:lnTo>
                  <a:pt x="553530" y="30439"/>
                </a:lnTo>
                <a:close/>
              </a:path>
              <a:path w="701040" h="92709">
                <a:moveTo>
                  <a:pt x="592334" y="1511"/>
                </a:moveTo>
                <a:lnTo>
                  <a:pt x="577380" y="1511"/>
                </a:lnTo>
                <a:lnTo>
                  <a:pt x="577380" y="62610"/>
                </a:lnTo>
                <a:lnTo>
                  <a:pt x="592334" y="62610"/>
                </a:lnTo>
                <a:lnTo>
                  <a:pt x="592334" y="1511"/>
                </a:lnTo>
                <a:close/>
              </a:path>
              <a:path w="701040" h="92709">
                <a:moveTo>
                  <a:pt x="642959" y="58247"/>
                </a:moveTo>
                <a:lnTo>
                  <a:pt x="627076" y="58247"/>
                </a:lnTo>
                <a:lnTo>
                  <a:pt x="627076" y="63073"/>
                </a:lnTo>
                <a:lnTo>
                  <a:pt x="627770" y="67277"/>
                </a:lnTo>
                <a:lnTo>
                  <a:pt x="627814" y="67545"/>
                </a:lnTo>
                <a:lnTo>
                  <a:pt x="630646" y="75442"/>
                </a:lnTo>
                <a:lnTo>
                  <a:pt x="630764" y="75770"/>
                </a:lnTo>
                <a:lnTo>
                  <a:pt x="656438" y="92173"/>
                </a:lnTo>
                <a:lnTo>
                  <a:pt x="668150" y="92173"/>
                </a:lnTo>
                <a:lnTo>
                  <a:pt x="697359" y="77209"/>
                </a:lnTo>
                <a:lnTo>
                  <a:pt x="660088" y="77209"/>
                </a:lnTo>
                <a:lnTo>
                  <a:pt x="658613" y="76977"/>
                </a:lnTo>
                <a:lnTo>
                  <a:pt x="658226" y="76977"/>
                </a:lnTo>
                <a:lnTo>
                  <a:pt x="653323" y="75442"/>
                </a:lnTo>
                <a:lnTo>
                  <a:pt x="642959" y="61659"/>
                </a:lnTo>
                <a:lnTo>
                  <a:pt x="642959" y="58247"/>
                </a:lnTo>
                <a:close/>
              </a:path>
              <a:path w="701040" h="92709">
                <a:moveTo>
                  <a:pt x="668176" y="0"/>
                </a:moveTo>
                <a:lnTo>
                  <a:pt x="659019" y="0"/>
                </a:lnTo>
                <a:lnTo>
                  <a:pt x="655898" y="414"/>
                </a:lnTo>
                <a:lnTo>
                  <a:pt x="631247" y="21008"/>
                </a:lnTo>
                <a:lnTo>
                  <a:pt x="631288" y="30074"/>
                </a:lnTo>
                <a:lnTo>
                  <a:pt x="632114" y="33498"/>
                </a:lnTo>
                <a:lnTo>
                  <a:pt x="632150" y="33644"/>
                </a:lnTo>
                <a:lnTo>
                  <a:pt x="662339" y="50887"/>
                </a:lnTo>
                <a:lnTo>
                  <a:pt x="667679" y="52240"/>
                </a:lnTo>
                <a:lnTo>
                  <a:pt x="684071" y="62866"/>
                </a:lnTo>
                <a:lnTo>
                  <a:pt x="683993" y="67545"/>
                </a:lnTo>
                <a:lnTo>
                  <a:pt x="683601" y="68898"/>
                </a:lnTo>
                <a:lnTo>
                  <a:pt x="683538" y="69117"/>
                </a:lnTo>
                <a:lnTo>
                  <a:pt x="665556" y="77209"/>
                </a:lnTo>
                <a:lnTo>
                  <a:pt x="697359" y="77209"/>
                </a:lnTo>
                <a:lnTo>
                  <a:pt x="699827" y="72651"/>
                </a:lnTo>
                <a:lnTo>
                  <a:pt x="700636" y="69288"/>
                </a:lnTo>
                <a:lnTo>
                  <a:pt x="700730" y="59661"/>
                </a:lnTo>
                <a:lnTo>
                  <a:pt x="699712" y="55530"/>
                </a:lnTo>
                <a:lnTo>
                  <a:pt x="664297" y="36094"/>
                </a:lnTo>
                <a:lnTo>
                  <a:pt x="661804" y="35497"/>
                </a:lnTo>
                <a:lnTo>
                  <a:pt x="647244" y="26991"/>
                </a:lnTo>
                <a:lnTo>
                  <a:pt x="647244" y="23920"/>
                </a:lnTo>
                <a:lnTo>
                  <a:pt x="661131" y="14854"/>
                </a:lnTo>
                <a:lnTo>
                  <a:pt x="696501" y="14854"/>
                </a:lnTo>
                <a:lnTo>
                  <a:pt x="695071" y="12356"/>
                </a:lnTo>
                <a:lnTo>
                  <a:pt x="673300" y="414"/>
                </a:lnTo>
                <a:lnTo>
                  <a:pt x="668176" y="0"/>
                </a:lnTo>
                <a:close/>
              </a:path>
              <a:path w="701040" h="92709">
                <a:moveTo>
                  <a:pt x="696501" y="14854"/>
                </a:moveTo>
                <a:lnTo>
                  <a:pt x="665378" y="14854"/>
                </a:lnTo>
                <a:lnTo>
                  <a:pt x="668333" y="15122"/>
                </a:lnTo>
                <a:lnTo>
                  <a:pt x="667980" y="15122"/>
                </a:lnTo>
                <a:lnTo>
                  <a:pt x="683552" y="28404"/>
                </a:lnTo>
                <a:lnTo>
                  <a:pt x="683676" y="29903"/>
                </a:lnTo>
                <a:lnTo>
                  <a:pt x="683690" y="30074"/>
                </a:lnTo>
                <a:lnTo>
                  <a:pt x="699687" y="30074"/>
                </a:lnTo>
                <a:lnTo>
                  <a:pt x="699687" y="25492"/>
                </a:lnTo>
                <a:lnTo>
                  <a:pt x="699090" y="21593"/>
                </a:lnTo>
                <a:lnTo>
                  <a:pt x="696652" y="15122"/>
                </a:lnTo>
                <a:lnTo>
                  <a:pt x="696501" y="14854"/>
                </a:lnTo>
                <a:close/>
              </a:path>
            </a:pathLst>
          </a:custGeom>
          <a:solidFill>
            <a:srgbClr val="B30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68983" y="2214371"/>
            <a:ext cx="708660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lang="en-US"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interpreting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nuances,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socio-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economic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factors,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managing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uncertainty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(Bao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al.,</a:t>
            </a:r>
            <a:r>
              <a:rPr lang="en-US"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2021)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lang="en-US"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strategies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evolve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integrating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behavioral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economics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(Bamber</a:t>
            </a:r>
            <a:r>
              <a:rPr lang="en-US"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al.,</a:t>
            </a:r>
            <a:r>
              <a:rPr lang="en-US"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2010)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40936" y="3604260"/>
            <a:ext cx="648208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Explore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combining</a:t>
            </a: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AI's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strategic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(Emami,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2021)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Leverage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strengths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trading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robust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financial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markets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25726" y="4887467"/>
            <a:ext cx="5738495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9725">
              <a:lnSpc>
                <a:spcPct val="1143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long-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term empirical studies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comparing</a:t>
            </a: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and human trading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impacts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Ethical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considerations: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privacy,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Develop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regulatory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frameworks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tailored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trading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(Azzutti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al.,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2022)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49998" y="2558288"/>
            <a:ext cx="12903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248CFEC9-7046-5F96-2715-F7676BC95F16}"/>
              </a:ext>
            </a:extLst>
          </p:cNvPr>
          <p:cNvSpPr/>
          <p:nvPr/>
        </p:nvSpPr>
        <p:spPr>
          <a:xfrm>
            <a:off x="1950726" y="931082"/>
            <a:ext cx="8678920" cy="117697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500" b="0" i="0" dirty="0" err="1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Gârleanu</a:t>
            </a: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Pedersen (2013): Framework for optimal trading with signals having different decay rates.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Ideas: "Aim in front of the target," trade partially toward it.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Implement and evaluate on real-world data focusing on dynamic trading.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CA82F0D-A6F7-F19E-C90E-348279BB0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879" y="2271678"/>
            <a:ext cx="8756165" cy="11769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8509524-7347-D94B-6A6A-0BD50E7D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879" y="3645613"/>
            <a:ext cx="8754615" cy="118272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08A5244-56FC-4A88-1C08-5043D5EBA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879" y="4986483"/>
            <a:ext cx="8754615" cy="1182727"/>
          </a:xfrm>
          <a:prstGeom prst="rect">
            <a:avLst/>
          </a:prstGeom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EADDC03-7E53-0F57-CEB2-86C33B431E6B}"/>
              </a:ext>
            </a:extLst>
          </p:cNvPr>
          <p:cNvSpPr/>
          <p:nvPr/>
        </p:nvSpPr>
        <p:spPr>
          <a:xfrm>
            <a:off x="161636" y="931083"/>
            <a:ext cx="1600200" cy="11769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en-US" sz="1500" b="1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Portfolio Optimization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DBD9320-60B2-D76E-C676-756924852FC3}"/>
              </a:ext>
            </a:extLst>
          </p:cNvPr>
          <p:cNvSpPr/>
          <p:nvPr/>
        </p:nvSpPr>
        <p:spPr>
          <a:xfrm>
            <a:off x="161636" y="2271678"/>
            <a:ext cx="1600200" cy="11769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endParaRPr lang="en-US" sz="1500" b="1" i="0" dirty="0">
              <a:solidFill>
                <a:srgbClr val="4242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</a:pPr>
            <a:r>
              <a:rPr lang="en-US" sz="1500" b="1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Earlier Models &amp; Quantitative Methods</a:t>
            </a:r>
          </a:p>
          <a:p>
            <a:pPr algn="ctr">
              <a:lnSpc>
                <a:spcPts val="2400"/>
              </a:lnSpc>
            </a:pPr>
            <a:endParaRPr lang="en-US" sz="1500" b="1" i="0" dirty="0">
              <a:solidFill>
                <a:srgbClr val="42424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B1E59A6-01FD-A6DB-4CAD-A8268F9D54A2}"/>
              </a:ext>
            </a:extLst>
          </p:cNvPr>
          <p:cNvSpPr/>
          <p:nvPr/>
        </p:nvSpPr>
        <p:spPr>
          <a:xfrm>
            <a:off x="161636" y="3651363"/>
            <a:ext cx="1600200" cy="11769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en-US" sz="1500" b="1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Trading Frameworks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5E5E6A7-CF0E-2375-806B-A8EC5F4FECFF}"/>
              </a:ext>
            </a:extLst>
          </p:cNvPr>
          <p:cNvSpPr/>
          <p:nvPr/>
        </p:nvSpPr>
        <p:spPr>
          <a:xfrm>
            <a:off x="161636" y="4989357"/>
            <a:ext cx="1600200" cy="11769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400"/>
              </a:lnSpc>
            </a:pPr>
            <a:r>
              <a:rPr lang="en-US" sz="1500" b="1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Approach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06487A-B380-A44F-72D8-5FF55E34391A}"/>
              </a:ext>
            </a:extLst>
          </p:cNvPr>
          <p:cNvSpPr txBox="1"/>
          <p:nvPr/>
        </p:nvSpPr>
        <p:spPr>
          <a:xfrm>
            <a:off x="2283030" y="2377430"/>
            <a:ext cx="834661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Markowitz, </a:t>
            </a:r>
            <a:r>
              <a:rPr lang="en-US" sz="1500" b="0" i="0" dirty="0" err="1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RiskMetrics</a:t>
            </a: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Lack responsiveness to alpha decay.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 err="1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ElasticNet</a:t>
            </a: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(Zou &amp; Hastie, 2005): Manages multicollinearity in predictive signals.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Shrinkage Covariance Estimators (</a:t>
            </a:r>
            <a:r>
              <a:rPr lang="en-US" sz="1500" b="0" i="0" dirty="0" err="1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Ledoit</a:t>
            </a: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Wolf, 2004): Improves risk estimation under limited data.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9C194F-8A4D-B70B-EE0D-8FDD5CE5B22E}"/>
              </a:ext>
            </a:extLst>
          </p:cNvPr>
          <p:cNvSpPr txBox="1"/>
          <p:nvPr/>
        </p:nvSpPr>
        <p:spPr>
          <a:xfrm>
            <a:off x="2283030" y="4020134"/>
            <a:ext cx="77705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Almgren &amp; Chriss (2000): Align well with institutional execution strategies.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4F769F-DE0B-6332-78E3-D052C3AA89A2}"/>
              </a:ext>
            </a:extLst>
          </p:cNvPr>
          <p:cNvSpPr txBox="1"/>
          <p:nvPr/>
        </p:nvSpPr>
        <p:spPr>
          <a:xfrm>
            <a:off x="2283030" y="5360765"/>
            <a:ext cx="74320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Empirical Financial Data: Build on the foundation using robust Python implementation.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4D54D8-EDAB-F5AF-4F0A-A11EFB95398A}"/>
              </a:ext>
            </a:extLst>
          </p:cNvPr>
          <p:cNvSpPr txBox="1"/>
          <p:nvPr/>
        </p:nvSpPr>
        <p:spPr>
          <a:xfrm>
            <a:off x="4220361" y="310735"/>
            <a:ext cx="6114472" cy="41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150"/>
              </a:spcBef>
              <a:spcAft>
                <a:spcPts val="450"/>
              </a:spcAft>
            </a:pPr>
            <a:r>
              <a:rPr lang="en-US" sz="3000" b="1" i="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F9D9-1901-AE54-E7B4-013F63F0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20340"/>
            <a:ext cx="10980420" cy="923330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Dynamic Trading with Predictable Returns and Transaction Costs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3F4E5-34A8-A8E5-D6DA-CFDB3C3C1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180" y="1143670"/>
            <a:ext cx="9734550" cy="4985980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Goal: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Optimize trading strategy using predictability in asset returns while accounting for transaction costs.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Paper: 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Dynamic Trading with Predictable Returns and Transaction Costs -  G &amp; P (2013)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Principle: a) Aim in front of portfolio b) Trade Partially Towards current Aim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Closed form Solution-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    1.  Trading Rate -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 2.  Aim Portfolio -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    3. Optimal Portfolio - 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Core Challenge: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Trade-off between exploiting return forecasts and minimizing trading costs.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DC78B-2BA4-94F0-1A57-AB98965D6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907079"/>
            <a:ext cx="2472017" cy="596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9B2697-C0E6-B787-578A-AEC03FAC4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543" y="3442636"/>
            <a:ext cx="5950608" cy="629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50C98-1B1E-F162-0047-66FE78E72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188" y="4503232"/>
            <a:ext cx="2818840" cy="56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6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DA4CA-1B38-8218-414A-AC14250B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0388-5E3B-93A2-A062-3E25766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312674"/>
            <a:ext cx="10376535" cy="4616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latin typeface="Calibri"/>
                <a:ea typeface="Calibri"/>
              </a:rPr>
              <a:t>Continuation.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0C45F-1918-846E-8791-BC298244A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179" y="689714"/>
            <a:ext cx="10216637" cy="3231654"/>
          </a:xfrm>
        </p:spPr>
        <p:txBody>
          <a:bodyPr wrap="square" lIns="0" tIns="0" rIns="0" bIns="0" anchor="t">
            <a:spAutoFit/>
          </a:bodyPr>
          <a:lstStyle/>
          <a:p>
            <a:pPr algn="l"/>
            <a:endParaRPr lang="en-US" dirty="0">
              <a:solidFill>
                <a:schemeClr val="tx1"/>
              </a:solidFill>
              <a:latin typeface="Tahoma"/>
              <a:ea typeface="Tahoma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Calibri"/>
              <a:ea typeface="Tahoma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Portfolio Strategies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:</a:t>
            </a:r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Compare three approaches</a:t>
            </a:r>
            <a:r>
              <a:rPr lang="en-US" sz="1800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- 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Markowitz</a:t>
            </a:r>
            <a:r>
              <a:rPr lang="en-US" sz="1800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(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Static), Dynamic, Equally weighted(Benchmark)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Markowitz (full rebalancing) -</a:t>
            </a:r>
            <a: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Net Return:</a:t>
            </a:r>
          </a:p>
          <a:p>
            <a:pPr algn="l"/>
            <a:endParaRPr lang="en-US" sz="1800" b="0" dirty="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  <a:p>
            <a:pPr algn="l"/>
            <a:endParaRPr lang="en-US" b="0" dirty="0">
              <a:ea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CD3C8-7C42-AE74-806A-9817573CE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11" y="1947803"/>
            <a:ext cx="2647950" cy="400050"/>
          </a:xfrm>
          <a:prstGeom prst="rect">
            <a:avLst/>
          </a:prstGeom>
        </p:spPr>
      </p:pic>
      <p:pic>
        <p:nvPicPr>
          <p:cNvPr id="9" name="Picture 8" descr="A black and white text&#10;&#10;AI-generated content may be incorrect.">
            <a:extLst>
              <a:ext uri="{FF2B5EF4-FFF2-40B4-BE49-F238E27FC236}">
                <a16:creationId xmlns:a16="http://schemas.microsoft.com/office/drawing/2014/main" id="{47AB3465-65E1-9B77-D38E-3D842E4C0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11" y="2416303"/>
            <a:ext cx="3472702" cy="407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A6C87-9394-8E06-BC56-1E622259A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6" t="-271" r="-1706"/>
          <a:stretch/>
        </p:blipFill>
        <p:spPr>
          <a:xfrm>
            <a:off x="1418874" y="3534828"/>
            <a:ext cx="4800600" cy="67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5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92F5-B514-CA89-B0D1-D689D4CA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A7292A-9305-DA8A-1B09-784514B9F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180" y="312674"/>
            <a:ext cx="10376535" cy="478336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algn="ctr">
              <a:spcBef>
                <a:spcPts val="130"/>
              </a:spcBef>
            </a:pPr>
            <a:r>
              <a:rPr lang="en-US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Cake Eating Problem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ED94E2-78D7-93D0-9960-8812CE5169BA}"/>
              </a:ext>
            </a:extLst>
          </p:cNvPr>
          <p:cNvSpPr txBox="1"/>
          <p:nvPr/>
        </p:nvSpPr>
        <p:spPr>
          <a:xfrm>
            <a:off x="678180" y="1014906"/>
            <a:ext cx="5999566" cy="5666936"/>
          </a:xfrm>
          <a:prstGeom prst="rect">
            <a:avLst/>
          </a:prstGeom>
        </p:spPr>
        <p:txBody>
          <a:bodyPr vert="horz" wrap="square" lIns="0" tIns="69850" rIns="0" bIns="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Formulation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r>
              <a:rPr lang="en-US" b="1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Dynamics</a:t>
            </a: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r>
              <a:rPr lang="en-US" spc="-75" dirty="0" err="1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Wt</a:t>
            </a: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Remaining cake size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r>
              <a:rPr lang="en-US" spc="-75" dirty="0" err="1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ct</a:t>
            </a: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Consumption at time t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r>
              <a:rPr lang="en-US" b="1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</a:t>
            </a: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Maximize Total Discounted Utility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1" indent="-342900" algn="l">
              <a:buFont typeface="Wingdings"/>
              <a:buChar char="Ø"/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lvl="1" indent="-285750" algn="l"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Dynamic Programming Solution</a:t>
            </a:r>
          </a:p>
          <a:p>
            <a:pPr lvl="1" algn="l">
              <a:tabLst>
                <a:tab pos="241300" algn="l"/>
              </a:tabLst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r>
              <a:rPr lang="en-US" b="1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Bellman Equation</a:t>
            </a: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340"/>
              </a:spcBef>
              <a:buFont typeface="Wingdings"/>
              <a:buChar char="Ø"/>
              <a:tabLst>
                <a:tab pos="241300" algn="l"/>
              </a:tabLst>
            </a:pPr>
            <a:endParaRPr lang="en-US" b="1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97815" marR="562610" indent="-285750">
              <a:lnSpc>
                <a:spcPts val="1950"/>
              </a:lnSpc>
              <a:spcBef>
                <a:spcPts val="340"/>
              </a:spcBef>
              <a:buClr>
                <a:srgbClr val="E6832D"/>
              </a:buClr>
              <a:buFont typeface="Wingdings" panose="020B0604020202020204" pitchFamily="34" charset="0"/>
              <a:buChar char="Ø"/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7A0BF-6451-7B62-0947-9384D57B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19" y="1815928"/>
            <a:ext cx="1419225" cy="342900"/>
          </a:xfrm>
          <a:prstGeom prst="rect">
            <a:avLst/>
          </a:prstGeom>
        </p:spPr>
      </p:pic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ACEA118-60E7-5D34-FD48-7C63419E1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5" t="7339" r="8040" b="21101"/>
          <a:stretch/>
        </p:blipFill>
        <p:spPr>
          <a:xfrm>
            <a:off x="1024461" y="3396872"/>
            <a:ext cx="1389018" cy="629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2C80C6-B489-9BA0-4F01-FC2ABAB87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044" y="3285065"/>
            <a:ext cx="982104" cy="1347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79EA7E-DF3C-8944-3EDF-21AEDB83D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792" y="5225583"/>
            <a:ext cx="3205807" cy="377911"/>
          </a:xfrm>
          <a:prstGeom prst="rect">
            <a:avLst/>
          </a:prstGeom>
        </p:spPr>
      </p:pic>
      <p:pic>
        <p:nvPicPr>
          <p:cNvPr id="8" name="Picture 7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F584C166-4861-460D-8793-6D3B7D802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883" y="2386656"/>
            <a:ext cx="2838450" cy="704850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3041C37F-93E8-5A28-9F59-9FB39D0C0B29}"/>
              </a:ext>
            </a:extLst>
          </p:cNvPr>
          <p:cNvSpPr txBox="1"/>
          <p:nvPr/>
        </p:nvSpPr>
        <p:spPr>
          <a:xfrm>
            <a:off x="6393179" y="1128175"/>
            <a:ext cx="5999566" cy="3689472"/>
          </a:xfrm>
          <a:prstGeom prst="rect">
            <a:avLst/>
          </a:prstGeom>
        </p:spPr>
        <p:txBody>
          <a:bodyPr vert="horz" wrap="square" lIns="0" tIns="69850" rIns="0" bIns="0" rtlCol="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Optimal Consumption Policies</a:t>
            </a:r>
          </a:p>
          <a:p>
            <a:pPr algn="l">
              <a:tabLst>
                <a:tab pos="241300" algn="l"/>
              </a:tabLst>
            </a:pPr>
            <a:endParaRPr lang="en-US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Finite Horizon (T periods):</a:t>
            </a:r>
          </a:p>
          <a:p>
            <a:pPr algn="l">
              <a:tabLst>
                <a:tab pos="241300" algn="l"/>
              </a:tabLst>
            </a:pP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Optimal Consumption: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Infinite Horizon (T → ∞):</a:t>
            </a:r>
          </a:p>
          <a:p>
            <a:pPr algn="l">
              <a:tabLst>
                <a:tab pos="241300" algn="l"/>
              </a:tabLst>
            </a:pPr>
            <a:r>
              <a:rPr lang="en-US" spc="-75" dirty="0">
                <a:solidFill>
                  <a:srgbClr val="363C4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Simplified Optimal Consumption: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97815" marR="562610" indent="-285750">
              <a:lnSpc>
                <a:spcPts val="1950"/>
              </a:lnSpc>
              <a:spcBef>
                <a:spcPts val="340"/>
              </a:spcBef>
              <a:buClr>
                <a:srgbClr val="E6832D"/>
              </a:buClr>
              <a:buFont typeface="Wingdings" panose="020B0604020202020204" pitchFamily="34" charset="0"/>
              <a:buChar char="Ø"/>
              <a:tabLst>
                <a:tab pos="241300" algn="l"/>
              </a:tabLst>
            </a:pPr>
            <a:endParaRPr lang="en-US" spc="-75" dirty="0">
              <a:solidFill>
                <a:srgbClr val="363C45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82CE76-DA41-C737-AC1A-F448E6646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70" y="4159487"/>
            <a:ext cx="1504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72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531C0-7B06-5E61-2521-1C4FCDA7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59EBF3-C319-CC1B-AFB3-15610CB90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Dataset Overview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415FA-7EF4-84C7-6D6E-6B1AA8A43092}"/>
              </a:ext>
            </a:extLst>
          </p:cNvPr>
          <p:cNvSpPr txBox="1"/>
          <p:nvPr/>
        </p:nvSpPr>
        <p:spPr>
          <a:xfrm>
            <a:off x="744988" y="1147394"/>
            <a:ext cx="1098981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5 Fama-French Factor + Momentum + 10 industry portfolios (1963-2024)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Frequency: Daily → Monthly (resampled to end-of-month)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columns: excess returns over risk-free rate</a:t>
            </a:r>
          </a:p>
        </p:txBody>
      </p:sp>
      <p:pic>
        <p:nvPicPr>
          <p:cNvPr id="10" name="Picture 9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098B4DB-2E90-4F3E-24D7-B76325A57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88" y="2436465"/>
            <a:ext cx="8322812" cy="1172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E996D-D39C-8549-DBAA-12BC560A7B89}"/>
              </a:ext>
            </a:extLst>
          </p:cNvPr>
          <p:cNvSpPr txBox="1"/>
          <p:nvPr/>
        </p:nvSpPr>
        <p:spPr>
          <a:xfrm>
            <a:off x="838200" y="3997842"/>
            <a:ext cx="80009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into equal halves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half: In-sample training and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half: Out-of-sample testing of portfolio strategy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100E-2343-0EBF-08D6-2D1E0CE8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9DF50F-9B17-BCB5-ABCC-6C800EF5E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1040798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Model Framework</a:t>
            </a:r>
            <a:br>
              <a:rPr lang="en-US" dirty="0"/>
            </a:br>
            <a:endParaRPr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11DF9-0858-8F62-3E18-B10EC7B00C0F}"/>
              </a:ext>
            </a:extLst>
          </p:cNvPr>
          <p:cNvSpPr txBox="1"/>
          <p:nvPr/>
        </p:nvSpPr>
        <p:spPr>
          <a:xfrm>
            <a:off x="743216" y="2326666"/>
            <a:ext cx="977061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B Estimation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60-month rolling window to regress each industry’s excess return on factor predictors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adapt to evolving relationships between predictors and returns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ElasticNetCV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(stability + regularization)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8D87B7-6F95-2499-14E4-1987D7FB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684" y="650032"/>
            <a:ext cx="6773220" cy="16766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7CFBE1-42E8-5504-0861-1B2C711A954C}"/>
              </a:ext>
            </a:extLst>
          </p:cNvPr>
          <p:cNvSpPr txBox="1"/>
          <p:nvPr/>
        </p:nvSpPr>
        <p:spPr>
          <a:xfrm>
            <a:off x="743216" y="4029740"/>
            <a:ext cx="257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B975C-0DBC-A072-0DBF-E004B44B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793" b="15703"/>
          <a:stretch/>
        </p:blipFill>
        <p:spPr>
          <a:xfrm>
            <a:off x="2034621" y="4572000"/>
            <a:ext cx="6350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8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F9C5-0593-6A19-1F5D-DF191C8F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388B1A-856A-1DDF-CF5B-7E5428EB7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Rolling B Estimation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0AB6E-E9F0-8E52-721D-3D2C2859AA0E}"/>
              </a:ext>
            </a:extLst>
          </p:cNvPr>
          <p:cNvSpPr txBox="1"/>
          <p:nvPr/>
        </p:nvSpPr>
        <p:spPr>
          <a:xfrm>
            <a:off x="744988" y="1147394"/>
            <a:ext cx="1098981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B matrix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60-month rolling walk forward window per industry with Multi-task Regression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ElasticNetCV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stabilize coefficient estimates 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factor loading matrix for each month</a:t>
            </a:r>
          </a:p>
        </p:txBody>
      </p:sp>
      <p:pic>
        <p:nvPicPr>
          <p:cNvPr id="4" name="Picture 3" descr="A graph of different colored lines">
            <a:extLst>
              <a:ext uri="{FF2B5EF4-FFF2-40B4-BE49-F238E27FC236}">
                <a16:creationId xmlns:a16="http://schemas.microsoft.com/office/drawing/2014/main" id="{B9EE34FF-BEA3-F87F-051D-0EEE19EDFF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728" y="2932498"/>
            <a:ext cx="5212850" cy="3285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B0CFD3-8D6E-350A-D234-EF018B53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358" y="1162446"/>
            <a:ext cx="1981200" cy="36195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D38CEA2-73C2-DAE1-5781-F9B8CD770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022" y="2986054"/>
            <a:ext cx="3444464" cy="317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281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2DDC-7C6A-71F1-6D40-3FC5A6C2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D674D0-E483-592E-88B7-D0F642647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 Phi (    ) Estimation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B5F1B-FF51-9D86-715F-28299BBF158D}"/>
              </a:ext>
            </a:extLst>
          </p:cNvPr>
          <p:cNvSpPr txBox="1"/>
          <p:nvPr/>
        </p:nvSpPr>
        <p:spPr>
          <a:xfrm>
            <a:off x="744988" y="1147394"/>
            <a:ext cx="109898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via VAR(1):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alpha decay rate for each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Slower-decaying signals receive more weight in trading decisions</a:t>
            </a:r>
          </a:p>
        </p:txBody>
      </p:sp>
      <p:pic>
        <p:nvPicPr>
          <p:cNvPr id="7" name="Picture 6" descr="A graph of values for each factor&#10;&#10;AI-generated content may be incorrect.">
            <a:extLst>
              <a:ext uri="{FF2B5EF4-FFF2-40B4-BE49-F238E27FC236}">
                <a16:creationId xmlns:a16="http://schemas.microsoft.com/office/drawing/2014/main" id="{47411EBC-798B-BB6A-1A11-9A12F33E7E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"/>
          <a:stretch/>
        </p:blipFill>
        <p:spPr>
          <a:xfrm>
            <a:off x="6239894" y="2895600"/>
            <a:ext cx="4910276" cy="3275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B55344-93E0-A602-9BCF-20B816DB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47800"/>
            <a:ext cx="2010056" cy="552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F8B8D7-FE63-051C-2F83-D7E892CE4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363729"/>
            <a:ext cx="288418" cy="2788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E5516B-AF21-8FF8-3794-2E3CB7429748}"/>
                  </a:ext>
                </a:extLst>
              </p14:cNvPr>
              <p14:cNvContentPartPr/>
              <p14:nvPr/>
            </p14:nvContentPartPr>
            <p14:xfrm>
              <a:off x="1203535" y="4876283"/>
              <a:ext cx="1800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E5516B-AF21-8FF8-3794-2E3CB74297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7415" y="4870163"/>
                <a:ext cx="302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679E20-935A-40DB-3042-17B22586645A}"/>
                  </a:ext>
                </a:extLst>
              </p14:cNvPr>
              <p14:cNvContentPartPr/>
              <p14:nvPr/>
            </p14:nvContentPartPr>
            <p14:xfrm>
              <a:off x="1161720" y="4830078"/>
              <a:ext cx="113040" cy="314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679E20-935A-40DB-3042-17B2258664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55600" y="4823958"/>
                <a:ext cx="125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3B5184-AC82-C19E-9DFD-F3BE2BC8BA27}"/>
                  </a:ext>
                </a:extLst>
              </p14:cNvPr>
              <p14:cNvContentPartPr/>
              <p14:nvPr/>
            </p14:nvContentPartPr>
            <p14:xfrm>
              <a:off x="1172520" y="4791198"/>
              <a:ext cx="116280" cy="20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3B5184-AC82-C19E-9DFD-F3BE2BC8BA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3520" y="4782198"/>
                <a:ext cx="133920" cy="21924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4AD35BE9-F48E-DD2D-6EF2-54ECAA78B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535" y="2624722"/>
            <a:ext cx="3733167" cy="330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BB3A3A-84E2-6AB7-3C1E-34ED72E507CE}"/>
                  </a:ext>
                </a:extLst>
              </p14:cNvPr>
              <p14:cNvContentPartPr/>
              <p14:nvPr/>
            </p14:nvContentPartPr>
            <p14:xfrm>
              <a:off x="6261880" y="4727187"/>
              <a:ext cx="122760" cy="362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BB3A3A-84E2-6AB7-3C1E-34ED72E507C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53240" y="4718187"/>
                <a:ext cx="140400" cy="3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482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24AF-957B-150F-00FE-FE9D4D10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271FE3-F2C6-C538-D66E-25E04C62F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Strategy Mechanics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87C54-29A8-E9BE-27F5-E3CAA205132E}"/>
              </a:ext>
            </a:extLst>
          </p:cNvPr>
          <p:cNvSpPr txBox="1"/>
          <p:nvPr/>
        </p:nvSpPr>
        <p:spPr>
          <a:xfrm>
            <a:off x="744988" y="1147394"/>
            <a:ext cx="109898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month: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alphas using scaled signals and 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risk covariance of residual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Ledoit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-Wolf method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aim portfolio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portfolio using smooth transition matrix</a:t>
            </a:r>
          </a:p>
          <a:p>
            <a:pPr marL="457200" lvl="1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alpha capture and transaction costs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C0FF19-C58D-9075-F3BC-65700F519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538" y="3352800"/>
            <a:ext cx="5706923" cy="265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03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72F4-787D-964A-37B4-33C3FD7D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C4DCF2-2832-8E1B-6310-D1B19C734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Equal Weight Benchmark Comparison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0DD3C-62EE-3BD2-8616-50C0B99578A6}"/>
              </a:ext>
            </a:extLst>
          </p:cNvPr>
          <p:cNvSpPr txBox="1"/>
          <p:nvPr/>
        </p:nvSpPr>
        <p:spPr>
          <a:xfrm>
            <a:off x="744988" y="1147394"/>
            <a:ext cx="109898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naive equal-weight strategy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dynamic strategy shows superior cumulative return and risk-adjusted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BA6CE-D509-AE2F-B54D-1145F28E1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2286000"/>
            <a:ext cx="4781550" cy="374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2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D49A-9016-6E8A-47B9-2921E734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F75388-B1AD-3627-6E76-4CA2F0BD43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Lambda Sensitivity Analysis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F5B90-A7CF-5A22-CB16-5E0A70BFC0BA}"/>
              </a:ext>
            </a:extLst>
          </p:cNvPr>
          <p:cNvSpPr txBox="1"/>
          <p:nvPr/>
        </p:nvSpPr>
        <p:spPr>
          <a:xfrm>
            <a:off x="744988" y="1147394"/>
            <a:ext cx="1098981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cost penalty  lambda varied: 0.005, 0.01, 0.02, 0.05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lambda: less turnover, lower Sharpe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trade-off at lambda = 0.01</a:t>
            </a:r>
          </a:p>
        </p:txBody>
      </p:sp>
      <p:pic>
        <p:nvPicPr>
          <p:cNvPr id="6" name="Picture 5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57F76CF2-7D71-B31A-EF99-927DBED2C8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087" y="2743200"/>
            <a:ext cx="5393826" cy="33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21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0F71-0419-ABD0-3138-EB324202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7ED339-8CD4-5833-4A4D-1332E83BC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Rolling Sharpe Ratio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1C90B1-00F0-4A5E-6190-398113F5E58D}"/>
              </a:ext>
            </a:extLst>
          </p:cNvPr>
          <p:cNvSpPr txBox="1"/>
          <p:nvPr/>
        </p:nvSpPr>
        <p:spPr>
          <a:xfrm>
            <a:off x="744988" y="1147394"/>
            <a:ext cx="109898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24-month rolling Sharpe captures strategy consistency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strong performance through macro volatility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EA8051-84C2-D3C0-1843-B2659B1F3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96" y="2286000"/>
            <a:ext cx="4524374" cy="368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8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947E-B76B-7CE4-5B6F-94A79E2A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8B49B3-2B91-A756-4324-F5F0969FFB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Performance by Market Regimes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F0F5A-387C-061D-FFE3-3807823CC7D3}"/>
              </a:ext>
            </a:extLst>
          </p:cNvPr>
          <p:cNvSpPr txBox="1"/>
          <p:nvPr/>
        </p:nvSpPr>
        <p:spPr>
          <a:xfrm>
            <a:off x="744988" y="1147394"/>
            <a:ext cx="109898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performance in 4 macro periods: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Pre-GFC (1996–2007)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Post-GFC (2009–2019)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Post-COVID (2020–2021)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Rates (2022–2024)</a:t>
            </a:r>
          </a:p>
          <a:p>
            <a:pPr marL="457200" lvl="1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Sharpe, Cumulative Return, Max Drawdown</a:t>
            </a:r>
          </a:p>
        </p:txBody>
      </p:sp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99FDD6A-902B-4D63-98E6-1234CC25E6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531073"/>
            <a:ext cx="4007365" cy="266915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E9117C-9D3B-878C-9DC4-B23EE78FD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823868"/>
              </p:ext>
            </p:extLst>
          </p:nvPr>
        </p:nvGraphicFramePr>
        <p:xfrm>
          <a:off x="6146800" y="3531073"/>
          <a:ext cx="5588000" cy="23774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25575429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6568709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3988991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576172303"/>
                    </a:ext>
                  </a:extLst>
                </a:gridCol>
              </a:tblGrid>
              <a:tr h="472149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Sharpe</a:t>
                      </a:r>
                    </a:p>
                    <a:p>
                      <a:pPr algn="ctr"/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Cumulative Return</a:t>
                      </a:r>
                    </a:p>
                    <a:p>
                      <a:pPr algn="ctr"/>
                      <a:r>
                        <a:rPr lang="en-US" b="1" dirty="0">
                          <a:effectLst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Max Drawdown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32774"/>
                  </a:ext>
                </a:extLst>
              </a:tr>
              <a:tr h="273546">
                <a:tc>
                  <a:txBody>
                    <a:bodyPr/>
                    <a:lstStyle/>
                    <a:p>
                      <a:pPr fontAlgn="ctr"/>
                      <a:r>
                        <a:rPr lang="en-US" b="1">
                          <a:effectLst/>
                        </a:rPr>
                        <a:t>Pre-GFC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1.538496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1.684364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0.030741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028947"/>
                  </a:ext>
                </a:extLst>
              </a:tr>
              <a:tr h="273546">
                <a:tc>
                  <a:txBody>
                    <a:bodyPr/>
                    <a:lstStyle/>
                    <a:p>
                      <a:pPr fontAlgn="ctr"/>
                      <a:r>
                        <a:rPr lang="en-US" b="1">
                          <a:effectLst/>
                        </a:rPr>
                        <a:t>Post-GFC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0.677654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1.191640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0.044489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807953"/>
                  </a:ext>
                </a:extLst>
              </a:tr>
              <a:tr h="273546">
                <a:tc>
                  <a:txBody>
                    <a:bodyPr/>
                    <a:lstStyle/>
                    <a:p>
                      <a:pPr fontAlgn="ctr"/>
                      <a:r>
                        <a:rPr lang="en-US" b="1">
                          <a:effectLst/>
                        </a:rPr>
                        <a:t>Post-COVID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2.744731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1.154922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0.008697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613906"/>
                  </a:ext>
                </a:extLst>
              </a:tr>
              <a:tr h="273546">
                <a:tc>
                  <a:txBody>
                    <a:bodyPr/>
                    <a:lstStyle/>
                    <a:p>
                      <a:pPr fontAlgn="ctr"/>
                      <a:r>
                        <a:rPr lang="en-US" b="1">
                          <a:effectLst/>
                        </a:rPr>
                        <a:t>High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1.314647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effectLst/>
                        </a:rPr>
                        <a:t>1.096379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0.023588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88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168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9034-A572-670E-3DDB-3A6A6286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D8A703-F34D-E2A0-D8A7-EAD92D177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Average Portfolio Weights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17A5B-EDAF-6DC1-81F3-94EC09B1CB85}"/>
              </a:ext>
            </a:extLst>
          </p:cNvPr>
          <p:cNvSpPr txBox="1"/>
          <p:nvPr/>
        </p:nvSpPr>
        <p:spPr>
          <a:xfrm>
            <a:off x="744988" y="1147394"/>
            <a:ext cx="109898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Averaged weights show preference for sectors like Tech, Health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stability and long-run alpha persistence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61D53D-FE4F-FC66-6D59-511D1551D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606" y="2259905"/>
            <a:ext cx="7824788" cy="361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090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90CE8-D231-D263-1A88-620D56E3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23A913-70E5-E4D4-2BAF-F75CA0877E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Turnover by Sector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2A625-4A58-2FEF-F352-0E758515F4B4}"/>
              </a:ext>
            </a:extLst>
          </p:cNvPr>
          <p:cNvSpPr txBox="1"/>
          <p:nvPr/>
        </p:nvSpPr>
        <p:spPr>
          <a:xfrm>
            <a:off x="744988" y="1147394"/>
            <a:ext cx="109898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High-turnover sectors: Energy, Telecom (more volatile signals)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Low-turnover: Utilities, Health (more persistent alpha)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DCAC6B1-E0F0-6B47-28D0-1BAD43740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77" y="2286000"/>
            <a:ext cx="7853834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909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B060-6D26-CCFB-9F51-9535443E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905CC8-929F-2087-D7A2-A6509018B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Key Insights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63F6F-CFFF-475A-FBF6-095B4EC33145}"/>
              </a:ext>
            </a:extLst>
          </p:cNvPr>
          <p:cNvSpPr txBox="1"/>
          <p:nvPr/>
        </p:nvSpPr>
        <p:spPr>
          <a:xfrm>
            <a:off x="533400" y="1219200"/>
            <a:ext cx="99631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strategies effectively incorporate real-world trading costs and signal decay, leading to more implementable solutions.</a:t>
            </a:r>
          </a:p>
          <a:p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Signals with slower mean-reversion (low phi) have higher value; the strategy inherently favors them through scaling.</a:t>
            </a:r>
          </a:p>
          <a:p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Partial rebalancing toward a forward-looking aim portfolio reduces churn while preserving alpha exposure.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to static approaches, dynamic trading results in smoother transitions and lower volatility of weights.</a:t>
            </a:r>
          </a:p>
          <a:p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Rolling evaluations show consistent Sharpe ratios and robust performance across macro regimes.</a:t>
            </a:r>
          </a:p>
        </p:txBody>
      </p:sp>
    </p:spTree>
    <p:extLst>
      <p:ext uri="{BB962C8B-B14F-4D97-AF65-F5344CB8AC3E}">
        <p14:creationId xmlns:p14="http://schemas.microsoft.com/office/powerpoint/2010/main" val="378997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3596-7803-9920-39DC-198E0459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AF9CBD-B811-7F0A-656C-85CED93DE0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Reinforcement Learning Extension – PPO Setup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A9914-6E1D-9155-FB93-22DB5F8A1CFC}"/>
              </a:ext>
            </a:extLst>
          </p:cNvPr>
          <p:cNvSpPr txBox="1"/>
          <p:nvPr/>
        </p:nvSpPr>
        <p:spPr>
          <a:xfrm>
            <a:off x="533400" y="1219200"/>
            <a:ext cx="996311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 Environment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PortfolioEnv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last 60 months of factor history + previous portfolio weights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continuous vector of new portfolio weights (∑wᵢ = 1, wᵢ ≥ 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net monthly P&amp;L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wᵀr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w_prev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‖₁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advance one month, apply transaction cost, observe next state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= 60 months,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1% per turnover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= 0.99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long-horizon wealth maximization)</a:t>
            </a:r>
          </a:p>
        </p:txBody>
      </p:sp>
    </p:spTree>
    <p:extLst>
      <p:ext uri="{BB962C8B-B14F-4D97-AF65-F5344CB8AC3E}">
        <p14:creationId xmlns:p14="http://schemas.microsoft.com/office/powerpoint/2010/main" val="750055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08695-A921-F90D-FB8F-7ED148F8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EA8CAE-40FA-18B9-2CAD-6010E1691B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PPO Agent &amp; Training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54864-6EBA-6006-78E6-4CE982FDAD38}"/>
              </a:ext>
            </a:extLst>
          </p:cNvPr>
          <p:cNvSpPr txBox="1"/>
          <p:nvPr/>
        </p:nvSpPr>
        <p:spPr>
          <a:xfrm>
            <a:off x="533400" y="1219200"/>
            <a:ext cx="9963118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</a:t>
            </a:r>
            <a:r>
              <a:rPr lang="en-US" dirty="0"/>
              <a:t>: Proximal Policy Optimization (</a:t>
            </a:r>
            <a:r>
              <a:rPr lang="en-US" dirty="0" err="1"/>
              <a:t>MlpPolicy</a:t>
            </a:r>
            <a:r>
              <a:rPr lang="en-US" dirty="0"/>
              <a:t>)</a:t>
            </a:r>
          </a:p>
          <a:p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Clip range = 0.2, </a:t>
            </a:r>
            <a:r>
              <a:rPr lang="en-US" dirty="0" err="1"/>
              <a:t>entropy_coef</a:t>
            </a:r>
            <a:r>
              <a:rPr lang="en-US" dirty="0"/>
              <a:t> = 0.0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Learning rate = 1e-4, epochs = 10, GAE </a:t>
            </a:r>
            <a:r>
              <a:rPr lang="el-GR" dirty="0"/>
              <a:t>λ = 0.9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Batch size = 64, </a:t>
            </a:r>
            <a:r>
              <a:rPr lang="en-US" dirty="0" err="1"/>
              <a:t>n_steps</a:t>
            </a:r>
            <a:r>
              <a:rPr lang="en-US" dirty="0"/>
              <a:t> = 2048</a:t>
            </a:r>
          </a:p>
          <a:p>
            <a:pPr marL="457200"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Training Regime</a:t>
            </a:r>
            <a:endParaRPr lang="en-US" dirty="0"/>
          </a:p>
          <a:p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In-sample: 1963 to midpoint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Clip range = 0.2, </a:t>
            </a:r>
            <a:r>
              <a:rPr lang="en-US" dirty="0" err="1"/>
              <a:t>entropy_coef</a:t>
            </a:r>
            <a:r>
              <a:rPr lang="en-US" dirty="0"/>
              <a:t> = 0.0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Learning rate = 1e-4, epochs = 10, GAE </a:t>
            </a:r>
            <a:r>
              <a:rPr lang="el-GR" dirty="0"/>
              <a:t>λ = 0.9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Batch size = 64, </a:t>
            </a:r>
            <a:r>
              <a:rPr lang="en-US" dirty="0" err="1"/>
              <a:t>n_steps</a:t>
            </a:r>
            <a:r>
              <a:rPr lang="en-US" dirty="0"/>
              <a:t> = 2048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Timesteps: 500K environment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Monitoring: convergence via episode reward mean</a:t>
            </a:r>
          </a:p>
          <a:p>
            <a:pPr marL="457200" lvl="1"/>
            <a:endParaRPr lang="en-US" dirty="0"/>
          </a:p>
          <a:p>
            <a:pPr marL="457200" lvl="1"/>
            <a:endParaRPr lang="en-US" dirty="0"/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67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20FC-9BE0-C0F5-C712-CD5CC465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89614A-E1AA-91E5-AEF7-F82AEB7F7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106596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b="1" dirty="0"/>
              <a:t>PPO Performance &amp; Comparison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5F8F768-E25A-955F-6B63-8956613E5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" y="1905000"/>
            <a:ext cx="5524500" cy="2609850"/>
          </a:xfrm>
          <a:prstGeom prst="rect">
            <a:avLst/>
          </a:prstGeom>
        </p:spPr>
      </p:pic>
      <p:pic>
        <p:nvPicPr>
          <p:cNvPr id="8" name="Picture 7" descr="A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A9A7EF3C-4746-FB15-0FD2-1048008624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712" y="1905000"/>
            <a:ext cx="5626452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5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8B20-8344-E4A0-3D09-B480314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D80EAD-3614-E9F0-175D-5471DC838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4988" y="228600"/>
            <a:ext cx="10181590" cy="579133"/>
          </a:xfrm>
          <a:prstGeom prst="rect">
            <a:avLst/>
          </a:prstGeom>
        </p:spPr>
        <p:txBody>
          <a:bodyPr vert="horz" wrap="square" lIns="0" tIns="116332" rIns="0" bIns="0" rtlCol="0">
            <a:spAutoFit/>
          </a:bodyPr>
          <a:lstStyle/>
          <a:p>
            <a:pPr marL="21590" algn="ctr">
              <a:spcBef>
                <a:spcPts val="100"/>
              </a:spcBef>
            </a:pPr>
            <a:r>
              <a:rPr lang="en-US" dirty="0"/>
              <a:t>Conclusion</a:t>
            </a:r>
            <a:endParaRPr lang="en-US" b="0" spc="-1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861-0B61-3B7F-3A69-CCB6B38EEBC1}"/>
              </a:ext>
            </a:extLst>
          </p:cNvPr>
          <p:cNvSpPr txBox="1"/>
          <p:nvPr/>
        </p:nvSpPr>
        <p:spPr>
          <a:xfrm>
            <a:off x="381000" y="1305342"/>
            <a:ext cx="105455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Gârleanu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Pedersen model provides a practical, closed-form solution to balance alpha capture and transaction costs.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dynamic trading strategy demonstrated strong outperformance against static and equal-weight benchmarks.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(PPO) offered a flexible learning-based alternative, though it underperformed the analytical dynamic approach in our setup.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highlight that while RL introduces adaptability, traditional model-driven methods still hold a significant edge in structured, factor-driven environments.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establishes a comprehensive framework to compare static, dynamic, and learning-based portfolio strategies under realistic constraints.</a:t>
            </a:r>
          </a:p>
        </p:txBody>
      </p:sp>
    </p:spTree>
    <p:extLst>
      <p:ext uri="{BB962C8B-B14F-4D97-AF65-F5344CB8AC3E}">
        <p14:creationId xmlns:p14="http://schemas.microsoft.com/office/powerpoint/2010/main" val="417990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5066779"/>
            <a:ext cx="12188825" cy="1791335"/>
            <a:chOff x="-1" y="5066779"/>
            <a:chExt cx="12188825" cy="1791335"/>
          </a:xfrm>
        </p:grpSpPr>
        <p:sp>
          <p:nvSpPr>
            <p:cNvPr id="3" name="object 3"/>
            <p:cNvSpPr/>
            <p:nvPr/>
          </p:nvSpPr>
          <p:spPr>
            <a:xfrm>
              <a:off x="8129944" y="5092179"/>
              <a:ext cx="4058920" cy="0"/>
            </a:xfrm>
            <a:custGeom>
              <a:avLst/>
              <a:gdLst/>
              <a:ahLst/>
              <a:cxnLst/>
              <a:rect l="l" t="t" r="r" b="b"/>
              <a:pathLst>
                <a:path w="4058920">
                  <a:moveTo>
                    <a:pt x="0" y="0"/>
                  </a:moveTo>
                  <a:lnTo>
                    <a:pt x="4058879" y="1"/>
                  </a:lnTo>
                </a:path>
              </a:pathLst>
            </a:custGeom>
            <a:ln w="50800">
              <a:solidFill>
                <a:srgbClr val="DF70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" y="5092922"/>
              <a:ext cx="8130540" cy="0"/>
            </a:xfrm>
            <a:custGeom>
              <a:avLst/>
              <a:gdLst/>
              <a:ahLst/>
              <a:cxnLst/>
              <a:rect l="l" t="t" r="r" b="b"/>
              <a:pathLst>
                <a:path w="8130540">
                  <a:moveTo>
                    <a:pt x="0" y="0"/>
                  </a:moveTo>
                  <a:lnTo>
                    <a:pt x="8129946" y="1"/>
                  </a:lnTo>
                </a:path>
              </a:pathLst>
            </a:custGeom>
            <a:ln w="50800">
              <a:solidFill>
                <a:srgbClr val="0F78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" y="5128391"/>
              <a:ext cx="12188825" cy="1729739"/>
            </a:xfrm>
            <a:custGeom>
              <a:avLst/>
              <a:gdLst/>
              <a:ahLst/>
              <a:cxnLst/>
              <a:rect l="l" t="t" r="r" b="b"/>
              <a:pathLst>
                <a:path w="12188825" h="1729740">
                  <a:moveTo>
                    <a:pt x="12188824" y="0"/>
                  </a:moveTo>
                  <a:lnTo>
                    <a:pt x="0" y="0"/>
                  </a:lnTo>
                  <a:lnTo>
                    <a:pt x="0" y="1729608"/>
                  </a:lnTo>
                  <a:lnTo>
                    <a:pt x="12188824" y="1729608"/>
                  </a:lnTo>
                  <a:lnTo>
                    <a:pt x="1218882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7527" y="678404"/>
            <a:ext cx="3580638" cy="30590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871520" y="4263994"/>
            <a:ext cx="2438400" cy="368300"/>
          </a:xfrm>
          <a:custGeom>
            <a:avLst/>
            <a:gdLst/>
            <a:ahLst/>
            <a:cxnLst/>
            <a:rect l="l" t="t" r="r" b="b"/>
            <a:pathLst>
              <a:path w="2438400" h="368300">
                <a:moveTo>
                  <a:pt x="57332" y="274716"/>
                </a:moveTo>
                <a:lnTo>
                  <a:pt x="0" y="290313"/>
                </a:lnTo>
                <a:lnTo>
                  <a:pt x="23886" y="331366"/>
                </a:lnTo>
                <a:lnTo>
                  <a:pt x="49151" y="354966"/>
                </a:lnTo>
                <a:lnTo>
                  <a:pt x="75844" y="365737"/>
                </a:lnTo>
                <a:lnTo>
                  <a:pt x="104011" y="368299"/>
                </a:lnTo>
                <a:lnTo>
                  <a:pt x="140835" y="362969"/>
                </a:lnTo>
                <a:lnTo>
                  <a:pt x="169906" y="347167"/>
                </a:lnTo>
                <a:lnTo>
                  <a:pt x="188988" y="321177"/>
                </a:lnTo>
                <a:lnTo>
                  <a:pt x="189790" y="316979"/>
                </a:lnTo>
                <a:lnTo>
                  <a:pt x="104011" y="316979"/>
                </a:lnTo>
                <a:lnTo>
                  <a:pt x="86800" y="313984"/>
                </a:lnTo>
                <a:lnTo>
                  <a:pt x="73252" y="305470"/>
                </a:lnTo>
                <a:lnTo>
                  <a:pt x="63413" y="292145"/>
                </a:lnTo>
                <a:lnTo>
                  <a:pt x="57332" y="274716"/>
                </a:lnTo>
                <a:close/>
              </a:path>
              <a:path w="2438400" h="368300">
                <a:moveTo>
                  <a:pt x="97415" y="84528"/>
                </a:moveTo>
                <a:lnTo>
                  <a:pt x="36847" y="103333"/>
                </a:lnTo>
                <a:lnTo>
                  <a:pt x="10255" y="160502"/>
                </a:lnTo>
                <a:lnTo>
                  <a:pt x="10147" y="161005"/>
                </a:lnTo>
                <a:lnTo>
                  <a:pt x="23127" y="205048"/>
                </a:lnTo>
                <a:lnTo>
                  <a:pt x="54081" y="232113"/>
                </a:lnTo>
                <a:lnTo>
                  <a:pt x="91026" y="250339"/>
                </a:lnTo>
                <a:lnTo>
                  <a:pt x="121980" y="267865"/>
                </a:lnTo>
                <a:lnTo>
                  <a:pt x="134961" y="292828"/>
                </a:lnTo>
                <a:lnTo>
                  <a:pt x="132836" y="302970"/>
                </a:lnTo>
                <a:lnTo>
                  <a:pt x="126716" y="310564"/>
                </a:lnTo>
                <a:lnTo>
                  <a:pt x="116981" y="315328"/>
                </a:lnTo>
                <a:lnTo>
                  <a:pt x="104011" y="316979"/>
                </a:lnTo>
                <a:lnTo>
                  <a:pt x="189790" y="316979"/>
                </a:lnTo>
                <a:lnTo>
                  <a:pt x="195845" y="285281"/>
                </a:lnTo>
                <a:lnTo>
                  <a:pt x="182864" y="245062"/>
                </a:lnTo>
                <a:lnTo>
                  <a:pt x="151911" y="218319"/>
                </a:lnTo>
                <a:lnTo>
                  <a:pt x="114966" y="199208"/>
                </a:lnTo>
                <a:lnTo>
                  <a:pt x="84012" y="181884"/>
                </a:lnTo>
                <a:lnTo>
                  <a:pt x="71032" y="160502"/>
                </a:lnTo>
                <a:lnTo>
                  <a:pt x="73006" y="150706"/>
                </a:lnTo>
                <a:lnTo>
                  <a:pt x="78452" y="142892"/>
                </a:lnTo>
                <a:lnTo>
                  <a:pt x="86657" y="137719"/>
                </a:lnTo>
                <a:lnTo>
                  <a:pt x="96908" y="135848"/>
                </a:lnTo>
                <a:lnTo>
                  <a:pt x="184688" y="135848"/>
                </a:lnTo>
                <a:lnTo>
                  <a:pt x="178824" y="124857"/>
                </a:lnTo>
                <a:lnTo>
                  <a:pt x="157664" y="103333"/>
                </a:lnTo>
                <a:lnTo>
                  <a:pt x="130386" y="89418"/>
                </a:lnTo>
                <a:lnTo>
                  <a:pt x="97415" y="84528"/>
                </a:lnTo>
                <a:close/>
              </a:path>
              <a:path w="2438400" h="368300">
                <a:moveTo>
                  <a:pt x="184688" y="135848"/>
                </a:moveTo>
                <a:lnTo>
                  <a:pt x="96908" y="135848"/>
                </a:lnTo>
                <a:lnTo>
                  <a:pt x="110726" y="138128"/>
                </a:lnTo>
                <a:lnTo>
                  <a:pt x="122974" y="145030"/>
                </a:lnTo>
                <a:lnTo>
                  <a:pt x="133225" y="156650"/>
                </a:lnTo>
                <a:lnTo>
                  <a:pt x="141050" y="173080"/>
                </a:lnTo>
                <a:lnTo>
                  <a:pt x="193815" y="152954"/>
                </a:lnTo>
                <a:lnTo>
                  <a:pt x="184688" y="135848"/>
                </a:lnTo>
                <a:close/>
              </a:path>
              <a:path w="2438400" h="368300">
                <a:moveTo>
                  <a:pt x="306439" y="152954"/>
                </a:moveTo>
                <a:lnTo>
                  <a:pt x="242511" y="152954"/>
                </a:lnTo>
                <a:lnTo>
                  <a:pt x="242511" y="313960"/>
                </a:lnTo>
                <a:lnTo>
                  <a:pt x="247442" y="339007"/>
                </a:lnTo>
                <a:lnTo>
                  <a:pt x="261410" y="355847"/>
                </a:lnTo>
                <a:lnTo>
                  <a:pt x="283180" y="365328"/>
                </a:lnTo>
                <a:lnTo>
                  <a:pt x="311513" y="368299"/>
                </a:lnTo>
                <a:lnTo>
                  <a:pt x="318089" y="368299"/>
                </a:lnTo>
                <a:lnTo>
                  <a:pt x="329778" y="367796"/>
                </a:lnTo>
                <a:lnTo>
                  <a:pt x="338911" y="367026"/>
                </a:lnTo>
                <a:lnTo>
                  <a:pt x="348044" y="365784"/>
                </a:lnTo>
                <a:lnTo>
                  <a:pt x="348044" y="312954"/>
                </a:lnTo>
                <a:lnTo>
                  <a:pt x="335360" y="312954"/>
                </a:lnTo>
                <a:lnTo>
                  <a:pt x="323563" y="311720"/>
                </a:lnTo>
                <a:lnTo>
                  <a:pt x="314430" y="307986"/>
                </a:lnTo>
                <a:lnTo>
                  <a:pt x="308532" y="301704"/>
                </a:lnTo>
                <a:lnTo>
                  <a:pt x="306439" y="292828"/>
                </a:lnTo>
                <a:lnTo>
                  <a:pt x="306439" y="152954"/>
                </a:lnTo>
                <a:close/>
              </a:path>
              <a:path w="2438400" h="368300">
                <a:moveTo>
                  <a:pt x="348044" y="312451"/>
                </a:moveTo>
                <a:lnTo>
                  <a:pt x="343985" y="312954"/>
                </a:lnTo>
                <a:lnTo>
                  <a:pt x="348044" y="312954"/>
                </a:lnTo>
                <a:lnTo>
                  <a:pt x="348044" y="312451"/>
                </a:lnTo>
                <a:close/>
              </a:path>
              <a:path w="2438400" h="368300">
                <a:moveTo>
                  <a:pt x="347536" y="101635"/>
                </a:moveTo>
                <a:lnTo>
                  <a:pt x="217142" y="101635"/>
                </a:lnTo>
                <a:lnTo>
                  <a:pt x="217142" y="152954"/>
                </a:lnTo>
                <a:lnTo>
                  <a:pt x="347536" y="152954"/>
                </a:lnTo>
                <a:lnTo>
                  <a:pt x="347536" y="101635"/>
                </a:lnTo>
                <a:close/>
              </a:path>
              <a:path w="2438400" h="368300">
                <a:moveTo>
                  <a:pt x="306439" y="27170"/>
                </a:moveTo>
                <a:lnTo>
                  <a:pt x="242511" y="27170"/>
                </a:lnTo>
                <a:lnTo>
                  <a:pt x="242511" y="101635"/>
                </a:lnTo>
                <a:lnTo>
                  <a:pt x="306439" y="101635"/>
                </a:lnTo>
                <a:lnTo>
                  <a:pt x="306439" y="27170"/>
                </a:lnTo>
                <a:close/>
              </a:path>
              <a:path w="2438400" h="368300">
                <a:moveTo>
                  <a:pt x="481990" y="84528"/>
                </a:moveTo>
                <a:lnTo>
                  <a:pt x="440449" y="91281"/>
                </a:lnTo>
                <a:lnTo>
                  <a:pt x="408421" y="110629"/>
                </a:lnTo>
                <a:lnTo>
                  <a:pt x="387809" y="141202"/>
                </a:lnTo>
                <a:lnTo>
                  <a:pt x="380516" y="181634"/>
                </a:lnTo>
                <a:lnTo>
                  <a:pt x="380516" y="271194"/>
                </a:lnTo>
                <a:lnTo>
                  <a:pt x="387809" y="311626"/>
                </a:lnTo>
                <a:lnTo>
                  <a:pt x="408421" y="342199"/>
                </a:lnTo>
                <a:lnTo>
                  <a:pt x="440449" y="361546"/>
                </a:lnTo>
                <a:lnTo>
                  <a:pt x="481990" y="368299"/>
                </a:lnTo>
                <a:lnTo>
                  <a:pt x="524601" y="362230"/>
                </a:lnTo>
                <a:lnTo>
                  <a:pt x="555749" y="344652"/>
                </a:lnTo>
                <a:lnTo>
                  <a:pt x="575057" y="316979"/>
                </a:lnTo>
                <a:lnTo>
                  <a:pt x="481990" y="316979"/>
                </a:lnTo>
                <a:lnTo>
                  <a:pt x="467133" y="314668"/>
                </a:lnTo>
                <a:lnTo>
                  <a:pt x="455226" y="307545"/>
                </a:lnTo>
                <a:lnTo>
                  <a:pt x="447314" y="295328"/>
                </a:lnTo>
                <a:lnTo>
                  <a:pt x="444444" y="277735"/>
                </a:lnTo>
                <a:lnTo>
                  <a:pt x="444444" y="241508"/>
                </a:lnTo>
                <a:lnTo>
                  <a:pt x="583464" y="241508"/>
                </a:lnTo>
                <a:lnTo>
                  <a:pt x="583464" y="190187"/>
                </a:lnTo>
                <a:lnTo>
                  <a:pt x="444444" y="190187"/>
                </a:lnTo>
                <a:lnTo>
                  <a:pt x="444444" y="175093"/>
                </a:lnTo>
                <a:lnTo>
                  <a:pt x="446671" y="158773"/>
                </a:lnTo>
                <a:lnTo>
                  <a:pt x="453513" y="146414"/>
                </a:lnTo>
                <a:lnTo>
                  <a:pt x="465207" y="138584"/>
                </a:lnTo>
                <a:lnTo>
                  <a:pt x="481990" y="135848"/>
                </a:lnTo>
                <a:lnTo>
                  <a:pt x="573347" y="135848"/>
                </a:lnTo>
                <a:lnTo>
                  <a:pt x="554988" y="110125"/>
                </a:lnTo>
                <a:lnTo>
                  <a:pt x="522996" y="91281"/>
                </a:lnTo>
                <a:lnTo>
                  <a:pt x="523273" y="91281"/>
                </a:lnTo>
                <a:lnTo>
                  <a:pt x="481990" y="84528"/>
                </a:lnTo>
                <a:close/>
              </a:path>
              <a:path w="2438400" h="368300">
                <a:moveTo>
                  <a:pt x="583464" y="278740"/>
                </a:moveTo>
                <a:lnTo>
                  <a:pt x="519535" y="278740"/>
                </a:lnTo>
                <a:lnTo>
                  <a:pt x="517450" y="293630"/>
                </a:lnTo>
                <a:lnTo>
                  <a:pt x="510847" y="305784"/>
                </a:lnTo>
                <a:lnTo>
                  <a:pt x="499201" y="313976"/>
                </a:lnTo>
                <a:lnTo>
                  <a:pt x="481990" y="316979"/>
                </a:lnTo>
                <a:lnTo>
                  <a:pt x="575057" y="316979"/>
                </a:lnTo>
                <a:lnTo>
                  <a:pt x="575386" y="316508"/>
                </a:lnTo>
                <a:lnTo>
                  <a:pt x="583464" y="278740"/>
                </a:lnTo>
                <a:close/>
              </a:path>
              <a:path w="2438400" h="368300">
                <a:moveTo>
                  <a:pt x="573347" y="135848"/>
                </a:moveTo>
                <a:lnTo>
                  <a:pt x="481990" y="135848"/>
                </a:lnTo>
                <a:lnTo>
                  <a:pt x="498773" y="138584"/>
                </a:lnTo>
                <a:lnTo>
                  <a:pt x="510466" y="146414"/>
                </a:lnTo>
                <a:lnTo>
                  <a:pt x="517307" y="158773"/>
                </a:lnTo>
                <a:lnTo>
                  <a:pt x="519535" y="175093"/>
                </a:lnTo>
                <a:lnTo>
                  <a:pt x="519535" y="190187"/>
                </a:lnTo>
                <a:lnTo>
                  <a:pt x="583464" y="190187"/>
                </a:lnTo>
                <a:lnTo>
                  <a:pt x="583464" y="177609"/>
                </a:lnTo>
                <a:lnTo>
                  <a:pt x="575957" y="139504"/>
                </a:lnTo>
                <a:lnTo>
                  <a:pt x="573347" y="135848"/>
                </a:lnTo>
                <a:close/>
              </a:path>
              <a:path w="2438400" h="368300">
                <a:moveTo>
                  <a:pt x="678850" y="89559"/>
                </a:moveTo>
                <a:lnTo>
                  <a:pt x="614921" y="89559"/>
                </a:lnTo>
                <a:lnTo>
                  <a:pt x="690012" y="363269"/>
                </a:lnTo>
                <a:lnTo>
                  <a:pt x="752925" y="363269"/>
                </a:lnTo>
                <a:lnTo>
                  <a:pt x="779704" y="265659"/>
                </a:lnTo>
                <a:lnTo>
                  <a:pt x="720962" y="265659"/>
                </a:lnTo>
                <a:lnTo>
                  <a:pt x="678850" y="89559"/>
                </a:lnTo>
                <a:close/>
              </a:path>
              <a:path w="2438400" h="368300">
                <a:moveTo>
                  <a:pt x="828017" y="89559"/>
                </a:moveTo>
                <a:lnTo>
                  <a:pt x="764087" y="89559"/>
                </a:lnTo>
                <a:lnTo>
                  <a:pt x="721977" y="265659"/>
                </a:lnTo>
                <a:lnTo>
                  <a:pt x="779704" y="265659"/>
                </a:lnTo>
                <a:lnTo>
                  <a:pt x="828017" y="89559"/>
                </a:lnTo>
                <a:close/>
              </a:path>
              <a:path w="2438400" h="368300">
                <a:moveTo>
                  <a:pt x="960948" y="84528"/>
                </a:moveTo>
                <a:lnTo>
                  <a:pt x="919407" y="91281"/>
                </a:lnTo>
                <a:lnTo>
                  <a:pt x="887379" y="110629"/>
                </a:lnTo>
                <a:lnTo>
                  <a:pt x="866767" y="141202"/>
                </a:lnTo>
                <a:lnTo>
                  <a:pt x="859473" y="181634"/>
                </a:lnTo>
                <a:lnTo>
                  <a:pt x="859473" y="271194"/>
                </a:lnTo>
                <a:lnTo>
                  <a:pt x="866767" y="311626"/>
                </a:lnTo>
                <a:lnTo>
                  <a:pt x="887379" y="342199"/>
                </a:lnTo>
                <a:lnTo>
                  <a:pt x="919407" y="361546"/>
                </a:lnTo>
                <a:lnTo>
                  <a:pt x="960948" y="368299"/>
                </a:lnTo>
                <a:lnTo>
                  <a:pt x="1003559" y="362230"/>
                </a:lnTo>
                <a:lnTo>
                  <a:pt x="1034707" y="344652"/>
                </a:lnTo>
                <a:lnTo>
                  <a:pt x="1054015" y="316979"/>
                </a:lnTo>
                <a:lnTo>
                  <a:pt x="960948" y="316979"/>
                </a:lnTo>
                <a:lnTo>
                  <a:pt x="946091" y="314668"/>
                </a:lnTo>
                <a:lnTo>
                  <a:pt x="934184" y="307545"/>
                </a:lnTo>
                <a:lnTo>
                  <a:pt x="926272" y="295328"/>
                </a:lnTo>
                <a:lnTo>
                  <a:pt x="923403" y="277735"/>
                </a:lnTo>
                <a:lnTo>
                  <a:pt x="923403" y="241508"/>
                </a:lnTo>
                <a:lnTo>
                  <a:pt x="1062422" y="241508"/>
                </a:lnTo>
                <a:lnTo>
                  <a:pt x="1062422" y="190187"/>
                </a:lnTo>
                <a:lnTo>
                  <a:pt x="923403" y="190187"/>
                </a:lnTo>
                <a:lnTo>
                  <a:pt x="923403" y="175093"/>
                </a:lnTo>
                <a:lnTo>
                  <a:pt x="925630" y="158773"/>
                </a:lnTo>
                <a:lnTo>
                  <a:pt x="932472" y="146414"/>
                </a:lnTo>
                <a:lnTo>
                  <a:pt x="944165" y="138584"/>
                </a:lnTo>
                <a:lnTo>
                  <a:pt x="960948" y="135848"/>
                </a:lnTo>
                <a:lnTo>
                  <a:pt x="1052304" y="135848"/>
                </a:lnTo>
                <a:lnTo>
                  <a:pt x="1033946" y="110125"/>
                </a:lnTo>
                <a:lnTo>
                  <a:pt x="1001953" y="91281"/>
                </a:lnTo>
                <a:lnTo>
                  <a:pt x="1002231" y="91281"/>
                </a:lnTo>
                <a:lnTo>
                  <a:pt x="960948" y="84528"/>
                </a:lnTo>
                <a:close/>
              </a:path>
              <a:path w="2438400" h="368300">
                <a:moveTo>
                  <a:pt x="1062422" y="278740"/>
                </a:moveTo>
                <a:lnTo>
                  <a:pt x="998494" y="278740"/>
                </a:lnTo>
                <a:lnTo>
                  <a:pt x="996409" y="293630"/>
                </a:lnTo>
                <a:lnTo>
                  <a:pt x="989805" y="305784"/>
                </a:lnTo>
                <a:lnTo>
                  <a:pt x="978159" y="313976"/>
                </a:lnTo>
                <a:lnTo>
                  <a:pt x="960948" y="316979"/>
                </a:lnTo>
                <a:lnTo>
                  <a:pt x="1054015" y="316979"/>
                </a:lnTo>
                <a:lnTo>
                  <a:pt x="1054343" y="316508"/>
                </a:lnTo>
                <a:lnTo>
                  <a:pt x="1062422" y="278740"/>
                </a:lnTo>
                <a:close/>
              </a:path>
              <a:path w="2438400" h="368300">
                <a:moveTo>
                  <a:pt x="1052304" y="135848"/>
                </a:moveTo>
                <a:lnTo>
                  <a:pt x="960948" y="135848"/>
                </a:lnTo>
                <a:lnTo>
                  <a:pt x="977731" y="138584"/>
                </a:lnTo>
                <a:lnTo>
                  <a:pt x="989424" y="146414"/>
                </a:lnTo>
                <a:lnTo>
                  <a:pt x="996266" y="158773"/>
                </a:lnTo>
                <a:lnTo>
                  <a:pt x="998494" y="175093"/>
                </a:lnTo>
                <a:lnTo>
                  <a:pt x="998494" y="190187"/>
                </a:lnTo>
                <a:lnTo>
                  <a:pt x="1062422" y="190187"/>
                </a:lnTo>
                <a:lnTo>
                  <a:pt x="1062422" y="177609"/>
                </a:lnTo>
                <a:lnTo>
                  <a:pt x="1054914" y="139504"/>
                </a:lnTo>
                <a:lnTo>
                  <a:pt x="1052304" y="135848"/>
                </a:lnTo>
                <a:close/>
              </a:path>
              <a:path w="2438400" h="368300">
                <a:moveTo>
                  <a:pt x="1180132" y="89559"/>
                </a:moveTo>
                <a:lnTo>
                  <a:pt x="1118233" y="89559"/>
                </a:lnTo>
                <a:lnTo>
                  <a:pt x="1118233" y="363269"/>
                </a:lnTo>
                <a:lnTo>
                  <a:pt x="1182161" y="363269"/>
                </a:lnTo>
                <a:lnTo>
                  <a:pt x="1182161" y="156477"/>
                </a:lnTo>
                <a:lnTo>
                  <a:pt x="1192586" y="147530"/>
                </a:lnTo>
                <a:lnTo>
                  <a:pt x="1203154" y="139622"/>
                </a:lnTo>
                <a:lnTo>
                  <a:pt x="1213598" y="133993"/>
                </a:lnTo>
                <a:lnTo>
                  <a:pt x="1223766" y="131823"/>
                </a:lnTo>
                <a:lnTo>
                  <a:pt x="1308337" y="131823"/>
                </a:lnTo>
                <a:lnTo>
                  <a:pt x="1307253" y="122523"/>
                </a:lnTo>
                <a:lnTo>
                  <a:pt x="1306341" y="120754"/>
                </a:lnTo>
                <a:lnTo>
                  <a:pt x="1180132" y="120754"/>
                </a:lnTo>
                <a:lnTo>
                  <a:pt x="1180132" y="89559"/>
                </a:lnTo>
                <a:close/>
              </a:path>
              <a:path w="2438400" h="368300">
                <a:moveTo>
                  <a:pt x="1308337" y="131823"/>
                </a:moveTo>
                <a:lnTo>
                  <a:pt x="1223766" y="131823"/>
                </a:lnTo>
                <a:lnTo>
                  <a:pt x="1234691" y="133993"/>
                </a:lnTo>
                <a:lnTo>
                  <a:pt x="1241905" y="140125"/>
                </a:lnTo>
                <a:lnTo>
                  <a:pt x="1245884" y="149653"/>
                </a:lnTo>
                <a:lnTo>
                  <a:pt x="1247105" y="162012"/>
                </a:lnTo>
                <a:lnTo>
                  <a:pt x="1247105" y="363269"/>
                </a:lnTo>
                <a:lnTo>
                  <a:pt x="1311034" y="363269"/>
                </a:lnTo>
                <a:lnTo>
                  <a:pt x="1311034" y="154967"/>
                </a:lnTo>
                <a:lnTo>
                  <a:pt x="1308337" y="131823"/>
                </a:lnTo>
                <a:close/>
              </a:path>
              <a:path w="2438400" h="368300">
                <a:moveTo>
                  <a:pt x="1251672" y="84528"/>
                </a:moveTo>
                <a:lnTo>
                  <a:pt x="1232645" y="87358"/>
                </a:lnTo>
                <a:lnTo>
                  <a:pt x="1214760" y="95094"/>
                </a:lnTo>
                <a:lnTo>
                  <a:pt x="1197446" y="106603"/>
                </a:lnTo>
                <a:lnTo>
                  <a:pt x="1180132" y="120754"/>
                </a:lnTo>
                <a:lnTo>
                  <a:pt x="1306341" y="120754"/>
                </a:lnTo>
                <a:lnTo>
                  <a:pt x="1296003" y="100691"/>
                </a:lnTo>
                <a:lnTo>
                  <a:pt x="1277429" y="88388"/>
                </a:lnTo>
                <a:lnTo>
                  <a:pt x="1251672" y="84528"/>
                </a:lnTo>
                <a:close/>
              </a:path>
              <a:path w="2438400" h="368300">
                <a:moveTo>
                  <a:pt x="1409971" y="274716"/>
                </a:moveTo>
                <a:lnTo>
                  <a:pt x="1352638" y="290313"/>
                </a:lnTo>
                <a:lnTo>
                  <a:pt x="1376525" y="331366"/>
                </a:lnTo>
                <a:lnTo>
                  <a:pt x="1401790" y="354966"/>
                </a:lnTo>
                <a:lnTo>
                  <a:pt x="1428482" y="365737"/>
                </a:lnTo>
                <a:lnTo>
                  <a:pt x="1456649" y="368299"/>
                </a:lnTo>
                <a:lnTo>
                  <a:pt x="1493473" y="362969"/>
                </a:lnTo>
                <a:lnTo>
                  <a:pt x="1522544" y="347167"/>
                </a:lnTo>
                <a:lnTo>
                  <a:pt x="1541626" y="321177"/>
                </a:lnTo>
                <a:lnTo>
                  <a:pt x="1542428" y="316979"/>
                </a:lnTo>
                <a:lnTo>
                  <a:pt x="1456649" y="316979"/>
                </a:lnTo>
                <a:lnTo>
                  <a:pt x="1439438" y="313984"/>
                </a:lnTo>
                <a:lnTo>
                  <a:pt x="1425890" y="305470"/>
                </a:lnTo>
                <a:lnTo>
                  <a:pt x="1416052" y="292145"/>
                </a:lnTo>
                <a:lnTo>
                  <a:pt x="1409971" y="274716"/>
                </a:lnTo>
                <a:close/>
              </a:path>
              <a:path w="2438400" h="368300">
                <a:moveTo>
                  <a:pt x="1450054" y="84528"/>
                </a:moveTo>
                <a:lnTo>
                  <a:pt x="1389486" y="103333"/>
                </a:lnTo>
                <a:lnTo>
                  <a:pt x="1362894" y="160502"/>
                </a:lnTo>
                <a:lnTo>
                  <a:pt x="1362786" y="161005"/>
                </a:lnTo>
                <a:lnTo>
                  <a:pt x="1375766" y="205048"/>
                </a:lnTo>
                <a:lnTo>
                  <a:pt x="1406720" y="232113"/>
                </a:lnTo>
                <a:lnTo>
                  <a:pt x="1443665" y="250339"/>
                </a:lnTo>
                <a:lnTo>
                  <a:pt x="1474618" y="267865"/>
                </a:lnTo>
                <a:lnTo>
                  <a:pt x="1487599" y="292828"/>
                </a:lnTo>
                <a:lnTo>
                  <a:pt x="1485474" y="302970"/>
                </a:lnTo>
                <a:lnTo>
                  <a:pt x="1479354" y="310564"/>
                </a:lnTo>
                <a:lnTo>
                  <a:pt x="1469619" y="315328"/>
                </a:lnTo>
                <a:lnTo>
                  <a:pt x="1456649" y="316979"/>
                </a:lnTo>
                <a:lnTo>
                  <a:pt x="1542428" y="316979"/>
                </a:lnTo>
                <a:lnTo>
                  <a:pt x="1548484" y="285281"/>
                </a:lnTo>
                <a:lnTo>
                  <a:pt x="1535503" y="245062"/>
                </a:lnTo>
                <a:lnTo>
                  <a:pt x="1504550" y="218319"/>
                </a:lnTo>
                <a:lnTo>
                  <a:pt x="1467605" y="199208"/>
                </a:lnTo>
                <a:lnTo>
                  <a:pt x="1436651" y="181884"/>
                </a:lnTo>
                <a:lnTo>
                  <a:pt x="1423671" y="160502"/>
                </a:lnTo>
                <a:lnTo>
                  <a:pt x="1425645" y="150706"/>
                </a:lnTo>
                <a:lnTo>
                  <a:pt x="1431091" y="142892"/>
                </a:lnTo>
                <a:lnTo>
                  <a:pt x="1439296" y="137719"/>
                </a:lnTo>
                <a:lnTo>
                  <a:pt x="1449546" y="135848"/>
                </a:lnTo>
                <a:lnTo>
                  <a:pt x="1537327" y="135848"/>
                </a:lnTo>
                <a:lnTo>
                  <a:pt x="1531463" y="124857"/>
                </a:lnTo>
                <a:lnTo>
                  <a:pt x="1510302" y="103333"/>
                </a:lnTo>
                <a:lnTo>
                  <a:pt x="1483025" y="89418"/>
                </a:lnTo>
                <a:lnTo>
                  <a:pt x="1450054" y="84528"/>
                </a:lnTo>
                <a:close/>
              </a:path>
              <a:path w="2438400" h="368300">
                <a:moveTo>
                  <a:pt x="1537327" y="135848"/>
                </a:moveTo>
                <a:lnTo>
                  <a:pt x="1449546" y="135848"/>
                </a:lnTo>
                <a:lnTo>
                  <a:pt x="1463364" y="138128"/>
                </a:lnTo>
                <a:lnTo>
                  <a:pt x="1475613" y="145030"/>
                </a:lnTo>
                <a:lnTo>
                  <a:pt x="1485863" y="156650"/>
                </a:lnTo>
                <a:lnTo>
                  <a:pt x="1493687" y="173080"/>
                </a:lnTo>
                <a:lnTo>
                  <a:pt x="1546454" y="152954"/>
                </a:lnTo>
                <a:lnTo>
                  <a:pt x="1537327" y="135848"/>
                </a:lnTo>
                <a:close/>
              </a:path>
              <a:path w="2438400" h="368300">
                <a:moveTo>
                  <a:pt x="1673284" y="291823"/>
                </a:moveTo>
                <a:lnTo>
                  <a:pt x="1601237" y="291823"/>
                </a:lnTo>
                <a:lnTo>
                  <a:pt x="1601237" y="363269"/>
                </a:lnTo>
                <a:lnTo>
                  <a:pt x="1673284" y="363269"/>
                </a:lnTo>
                <a:lnTo>
                  <a:pt x="1673284" y="291823"/>
                </a:lnTo>
                <a:close/>
              </a:path>
              <a:path w="2438400" h="368300">
                <a:moveTo>
                  <a:pt x="1834628" y="84528"/>
                </a:moveTo>
                <a:lnTo>
                  <a:pt x="1793087" y="91281"/>
                </a:lnTo>
                <a:lnTo>
                  <a:pt x="1761060" y="110629"/>
                </a:lnTo>
                <a:lnTo>
                  <a:pt x="1740448" y="141202"/>
                </a:lnTo>
                <a:lnTo>
                  <a:pt x="1733155" y="181634"/>
                </a:lnTo>
                <a:lnTo>
                  <a:pt x="1733155" y="271194"/>
                </a:lnTo>
                <a:lnTo>
                  <a:pt x="1740448" y="311626"/>
                </a:lnTo>
                <a:lnTo>
                  <a:pt x="1761060" y="342199"/>
                </a:lnTo>
                <a:lnTo>
                  <a:pt x="1793087" y="361546"/>
                </a:lnTo>
                <a:lnTo>
                  <a:pt x="1834628" y="368299"/>
                </a:lnTo>
                <a:lnTo>
                  <a:pt x="1877239" y="362230"/>
                </a:lnTo>
                <a:lnTo>
                  <a:pt x="1908387" y="344652"/>
                </a:lnTo>
                <a:lnTo>
                  <a:pt x="1927695" y="316979"/>
                </a:lnTo>
                <a:lnTo>
                  <a:pt x="1834628" y="316979"/>
                </a:lnTo>
                <a:lnTo>
                  <a:pt x="1819771" y="314668"/>
                </a:lnTo>
                <a:lnTo>
                  <a:pt x="1807864" y="307545"/>
                </a:lnTo>
                <a:lnTo>
                  <a:pt x="1799952" y="295328"/>
                </a:lnTo>
                <a:lnTo>
                  <a:pt x="1797083" y="277735"/>
                </a:lnTo>
                <a:lnTo>
                  <a:pt x="1797083" y="241508"/>
                </a:lnTo>
                <a:lnTo>
                  <a:pt x="1936102" y="241508"/>
                </a:lnTo>
                <a:lnTo>
                  <a:pt x="1936102" y="190187"/>
                </a:lnTo>
                <a:lnTo>
                  <a:pt x="1797083" y="190187"/>
                </a:lnTo>
                <a:lnTo>
                  <a:pt x="1797083" y="175093"/>
                </a:lnTo>
                <a:lnTo>
                  <a:pt x="1799310" y="158773"/>
                </a:lnTo>
                <a:lnTo>
                  <a:pt x="1806152" y="146414"/>
                </a:lnTo>
                <a:lnTo>
                  <a:pt x="1817845" y="138584"/>
                </a:lnTo>
                <a:lnTo>
                  <a:pt x="1834628" y="135848"/>
                </a:lnTo>
                <a:lnTo>
                  <a:pt x="1925985" y="135848"/>
                </a:lnTo>
                <a:lnTo>
                  <a:pt x="1907626" y="110125"/>
                </a:lnTo>
                <a:lnTo>
                  <a:pt x="1875634" y="91281"/>
                </a:lnTo>
                <a:lnTo>
                  <a:pt x="1875911" y="91281"/>
                </a:lnTo>
                <a:lnTo>
                  <a:pt x="1834628" y="84528"/>
                </a:lnTo>
                <a:close/>
              </a:path>
              <a:path w="2438400" h="368300">
                <a:moveTo>
                  <a:pt x="1936102" y="278740"/>
                </a:moveTo>
                <a:lnTo>
                  <a:pt x="1872174" y="278740"/>
                </a:lnTo>
                <a:lnTo>
                  <a:pt x="1870089" y="293630"/>
                </a:lnTo>
                <a:lnTo>
                  <a:pt x="1863485" y="305784"/>
                </a:lnTo>
                <a:lnTo>
                  <a:pt x="1851839" y="313976"/>
                </a:lnTo>
                <a:lnTo>
                  <a:pt x="1834628" y="316979"/>
                </a:lnTo>
                <a:lnTo>
                  <a:pt x="1927695" y="316979"/>
                </a:lnTo>
                <a:lnTo>
                  <a:pt x="1928024" y="316508"/>
                </a:lnTo>
                <a:lnTo>
                  <a:pt x="1936102" y="278740"/>
                </a:lnTo>
                <a:close/>
              </a:path>
              <a:path w="2438400" h="368300">
                <a:moveTo>
                  <a:pt x="1925985" y="135848"/>
                </a:moveTo>
                <a:lnTo>
                  <a:pt x="1834628" y="135848"/>
                </a:lnTo>
                <a:lnTo>
                  <a:pt x="1851411" y="138584"/>
                </a:lnTo>
                <a:lnTo>
                  <a:pt x="1863104" y="146414"/>
                </a:lnTo>
                <a:lnTo>
                  <a:pt x="1869946" y="158773"/>
                </a:lnTo>
                <a:lnTo>
                  <a:pt x="1872174" y="175093"/>
                </a:lnTo>
                <a:lnTo>
                  <a:pt x="1872174" y="190187"/>
                </a:lnTo>
                <a:lnTo>
                  <a:pt x="1936102" y="190187"/>
                </a:lnTo>
                <a:lnTo>
                  <a:pt x="1936102" y="177609"/>
                </a:lnTo>
                <a:lnTo>
                  <a:pt x="1928594" y="139504"/>
                </a:lnTo>
                <a:lnTo>
                  <a:pt x="1925985" y="135848"/>
                </a:lnTo>
                <a:close/>
              </a:path>
              <a:path w="2438400" h="368300">
                <a:moveTo>
                  <a:pt x="2056857" y="84528"/>
                </a:moveTo>
                <a:lnTo>
                  <a:pt x="2024940" y="91604"/>
                </a:lnTo>
                <a:lnTo>
                  <a:pt x="2003202" y="112452"/>
                </a:lnTo>
                <a:lnTo>
                  <a:pt x="1990788" y="146508"/>
                </a:lnTo>
                <a:lnTo>
                  <a:pt x="1986840" y="193206"/>
                </a:lnTo>
                <a:lnTo>
                  <a:pt x="1986840" y="259622"/>
                </a:lnTo>
                <a:lnTo>
                  <a:pt x="1990788" y="306319"/>
                </a:lnTo>
                <a:lnTo>
                  <a:pt x="2003202" y="340375"/>
                </a:lnTo>
                <a:lnTo>
                  <a:pt x="2024940" y="361224"/>
                </a:lnTo>
                <a:lnTo>
                  <a:pt x="2056857" y="368299"/>
                </a:lnTo>
                <a:lnTo>
                  <a:pt x="2077897" y="364730"/>
                </a:lnTo>
                <a:lnTo>
                  <a:pt x="2097320" y="355595"/>
                </a:lnTo>
                <a:lnTo>
                  <a:pt x="2113508" y="343253"/>
                </a:lnTo>
                <a:lnTo>
                  <a:pt x="2124844" y="330061"/>
                </a:lnTo>
                <a:lnTo>
                  <a:pt x="2184714" y="330061"/>
                </a:lnTo>
                <a:lnTo>
                  <a:pt x="2184714" y="321005"/>
                </a:lnTo>
                <a:lnTo>
                  <a:pt x="2082225" y="321005"/>
                </a:lnTo>
                <a:lnTo>
                  <a:pt x="2070033" y="318426"/>
                </a:lnTo>
                <a:lnTo>
                  <a:pt x="2060028" y="308678"/>
                </a:lnTo>
                <a:lnTo>
                  <a:pt x="2053258" y="288740"/>
                </a:lnTo>
                <a:lnTo>
                  <a:pt x="2050769" y="255596"/>
                </a:lnTo>
                <a:lnTo>
                  <a:pt x="2050769" y="197232"/>
                </a:lnTo>
                <a:lnTo>
                  <a:pt x="2053258" y="164087"/>
                </a:lnTo>
                <a:lnTo>
                  <a:pt x="2060028" y="144150"/>
                </a:lnTo>
                <a:lnTo>
                  <a:pt x="2070033" y="134402"/>
                </a:lnTo>
                <a:lnTo>
                  <a:pt x="2082225" y="131823"/>
                </a:lnTo>
                <a:lnTo>
                  <a:pt x="2184714" y="131823"/>
                </a:lnTo>
                <a:lnTo>
                  <a:pt x="2184714" y="114716"/>
                </a:lnTo>
                <a:lnTo>
                  <a:pt x="2120785" y="114716"/>
                </a:lnTo>
                <a:lnTo>
                  <a:pt x="2100380" y="100659"/>
                </a:lnTo>
                <a:lnTo>
                  <a:pt x="2083874" y="91320"/>
                </a:lnTo>
                <a:lnTo>
                  <a:pt x="2069843" y="86132"/>
                </a:lnTo>
                <a:lnTo>
                  <a:pt x="2056857" y="84528"/>
                </a:lnTo>
                <a:close/>
              </a:path>
              <a:path w="2438400" h="368300">
                <a:moveTo>
                  <a:pt x="2184714" y="330061"/>
                </a:moveTo>
                <a:lnTo>
                  <a:pt x="2125859" y="330061"/>
                </a:lnTo>
                <a:lnTo>
                  <a:pt x="2125859" y="363269"/>
                </a:lnTo>
                <a:lnTo>
                  <a:pt x="2184714" y="363269"/>
                </a:lnTo>
                <a:lnTo>
                  <a:pt x="2184714" y="330061"/>
                </a:lnTo>
                <a:close/>
              </a:path>
              <a:path w="2438400" h="368300">
                <a:moveTo>
                  <a:pt x="2184714" y="131823"/>
                </a:moveTo>
                <a:lnTo>
                  <a:pt x="2082225" y="131823"/>
                </a:lnTo>
                <a:lnTo>
                  <a:pt x="2092460" y="132979"/>
                </a:lnTo>
                <a:lnTo>
                  <a:pt x="2102076" y="136540"/>
                </a:lnTo>
                <a:lnTo>
                  <a:pt x="2111407" y="142648"/>
                </a:lnTo>
                <a:lnTo>
                  <a:pt x="2120785" y="151446"/>
                </a:lnTo>
                <a:lnTo>
                  <a:pt x="2120785" y="301382"/>
                </a:lnTo>
                <a:lnTo>
                  <a:pt x="2111407" y="310179"/>
                </a:lnTo>
                <a:lnTo>
                  <a:pt x="2102076" y="316288"/>
                </a:lnTo>
                <a:lnTo>
                  <a:pt x="2092460" y="319849"/>
                </a:lnTo>
                <a:lnTo>
                  <a:pt x="2082225" y="321005"/>
                </a:lnTo>
                <a:lnTo>
                  <a:pt x="2184714" y="321005"/>
                </a:lnTo>
                <a:lnTo>
                  <a:pt x="2184714" y="131823"/>
                </a:lnTo>
                <a:close/>
              </a:path>
              <a:path w="2438400" h="368300">
                <a:moveTo>
                  <a:pt x="2184714" y="0"/>
                </a:moveTo>
                <a:lnTo>
                  <a:pt x="2120785" y="0"/>
                </a:lnTo>
                <a:lnTo>
                  <a:pt x="2120785" y="114716"/>
                </a:lnTo>
                <a:lnTo>
                  <a:pt x="2184714" y="114716"/>
                </a:lnTo>
                <a:lnTo>
                  <a:pt x="2184714" y="0"/>
                </a:lnTo>
                <a:close/>
              </a:path>
              <a:path w="2438400" h="368300">
                <a:moveTo>
                  <a:pt x="2309528" y="89559"/>
                </a:moveTo>
                <a:lnTo>
                  <a:pt x="2245598" y="89559"/>
                </a:lnTo>
                <a:lnTo>
                  <a:pt x="2245598" y="297860"/>
                </a:lnTo>
                <a:lnTo>
                  <a:pt x="2249380" y="330305"/>
                </a:lnTo>
                <a:lnTo>
                  <a:pt x="2260630" y="352136"/>
                </a:lnTo>
                <a:lnTo>
                  <a:pt x="2279204" y="364439"/>
                </a:lnTo>
                <a:lnTo>
                  <a:pt x="2304961" y="368299"/>
                </a:lnTo>
                <a:lnTo>
                  <a:pt x="2323987" y="365469"/>
                </a:lnTo>
                <a:lnTo>
                  <a:pt x="2341872" y="357734"/>
                </a:lnTo>
                <a:lnTo>
                  <a:pt x="2359186" y="346225"/>
                </a:lnTo>
                <a:lnTo>
                  <a:pt x="2376501" y="332074"/>
                </a:lnTo>
                <a:lnTo>
                  <a:pt x="2438400" y="332074"/>
                </a:lnTo>
                <a:lnTo>
                  <a:pt x="2438400" y="321005"/>
                </a:lnTo>
                <a:lnTo>
                  <a:pt x="2332866" y="321005"/>
                </a:lnTo>
                <a:lnTo>
                  <a:pt x="2322021" y="318851"/>
                </a:lnTo>
                <a:lnTo>
                  <a:pt x="2314728" y="312703"/>
                </a:lnTo>
                <a:lnTo>
                  <a:pt x="2310748" y="303174"/>
                </a:lnTo>
                <a:lnTo>
                  <a:pt x="2309528" y="290816"/>
                </a:lnTo>
                <a:lnTo>
                  <a:pt x="2309528" y="89559"/>
                </a:lnTo>
                <a:close/>
              </a:path>
              <a:path w="2438400" h="368300">
                <a:moveTo>
                  <a:pt x="2438400" y="332074"/>
                </a:moveTo>
                <a:lnTo>
                  <a:pt x="2376501" y="332074"/>
                </a:lnTo>
                <a:lnTo>
                  <a:pt x="2376501" y="363269"/>
                </a:lnTo>
                <a:lnTo>
                  <a:pt x="2438400" y="363269"/>
                </a:lnTo>
                <a:lnTo>
                  <a:pt x="2438400" y="332074"/>
                </a:lnTo>
                <a:close/>
              </a:path>
              <a:path w="2438400" h="368300">
                <a:moveTo>
                  <a:pt x="2438400" y="89559"/>
                </a:moveTo>
                <a:lnTo>
                  <a:pt x="2374472" y="89559"/>
                </a:lnTo>
                <a:lnTo>
                  <a:pt x="2374472" y="296350"/>
                </a:lnTo>
                <a:lnTo>
                  <a:pt x="2364046" y="305297"/>
                </a:lnTo>
                <a:lnTo>
                  <a:pt x="2353478" y="313206"/>
                </a:lnTo>
                <a:lnTo>
                  <a:pt x="2343006" y="318851"/>
                </a:lnTo>
                <a:lnTo>
                  <a:pt x="2332866" y="321005"/>
                </a:lnTo>
                <a:lnTo>
                  <a:pt x="2438400" y="321005"/>
                </a:lnTo>
                <a:lnTo>
                  <a:pt x="2438400" y="89559"/>
                </a:lnTo>
                <a:close/>
              </a:path>
            </a:pathLst>
          </a:custGeom>
          <a:solidFill>
            <a:srgbClr val="B307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14684" y="5564123"/>
            <a:ext cx="37598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0" dirty="0">
                <a:solidFill>
                  <a:schemeClr val="tx1"/>
                </a:solidFill>
                <a:latin typeface="Times New Roman"/>
                <a:cs typeface="Times New Roman"/>
              </a:rPr>
              <a:t>THANK</a:t>
            </a:r>
            <a:r>
              <a:rPr sz="5000" spc="-2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5000" spc="-25" dirty="0">
                <a:solidFill>
                  <a:schemeClr val="tx1"/>
                </a:solidFill>
                <a:latin typeface="Times New Roman"/>
                <a:cs typeface="Times New Roman"/>
              </a:rPr>
              <a:t>YOU</a:t>
            </a:r>
            <a:endParaRPr sz="5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</TotalTime>
  <Words>1345</Words>
  <Application>Microsoft Macintosh PowerPoint</Application>
  <PresentationFormat>Widescreen</PresentationFormat>
  <Paragraphs>245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Microsoft Sans Serif</vt:lpstr>
      <vt:lpstr>Tahoma</vt:lpstr>
      <vt:lpstr>Times New Roman</vt:lpstr>
      <vt:lpstr>Wingdings</vt:lpstr>
      <vt:lpstr>Office Theme</vt:lpstr>
      <vt:lpstr>Dynamic Trading with Predictable Returns and Transaction Costs.</vt:lpstr>
      <vt:lpstr>Introduction</vt:lpstr>
      <vt:lpstr>PowerPoint Presentation</vt:lpstr>
      <vt:lpstr>Dynamic Trading with Predictable Returns and Transaction Costs </vt:lpstr>
      <vt:lpstr>Continuation.</vt:lpstr>
      <vt:lpstr>Cake Eating Problem</vt:lpstr>
      <vt:lpstr>Dataset Overview</vt:lpstr>
      <vt:lpstr>Model Framework </vt:lpstr>
      <vt:lpstr>Rolling B Estimation</vt:lpstr>
      <vt:lpstr> Phi (    ) Estimation</vt:lpstr>
      <vt:lpstr>Strategy Mechanics</vt:lpstr>
      <vt:lpstr>Equal Weight Benchmark Comparison</vt:lpstr>
      <vt:lpstr>Lambda Sensitivity Analysis</vt:lpstr>
      <vt:lpstr>Rolling Sharpe Ratio</vt:lpstr>
      <vt:lpstr>Performance by Market Regimes</vt:lpstr>
      <vt:lpstr>Average Portfolio Weights</vt:lpstr>
      <vt:lpstr>Turnover by Sector</vt:lpstr>
      <vt:lpstr>Key Insights</vt:lpstr>
      <vt:lpstr>Reinforcement Learning Extension – PPO Setup</vt:lpstr>
      <vt:lpstr>PPO Agent &amp; Training</vt:lpstr>
      <vt:lpstr>PPO Performance &amp; Comparison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mrinal gupta</cp:lastModifiedBy>
  <cp:revision>11</cp:revision>
  <dcterms:created xsi:type="dcterms:W3CDTF">2025-05-08T08:02:28Z</dcterms:created>
  <dcterms:modified xsi:type="dcterms:W3CDTF">2025-05-08T16:06:10Z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2024-05-13T00:00:00Z</vt:filetime>
  </property>
  <property fmtid="{D5CDD505-2E9C-101B-9397-08002B2CF9AE}" pid="3" name="LastSaved">
    <vt:filetime>2025-05-08T00:00:00Z</vt:filetime>
  </property>
  <property fmtid="{D5CDD505-2E9C-101B-9397-08002B2CF9AE}" pid="4" name="Producer">
    <vt:lpwstr>macOS Version 14.2 (Build 23C64) Quartz PDFContext</vt:lpwstr>
  </property>
</Properties>
</file>